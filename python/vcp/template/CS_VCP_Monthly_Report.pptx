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  <p:sldMasterId id="2147483650" r:id="rId4"/>
  </p:sldMasterIdLst>
  <p:notesMasterIdLst>
    <p:notesMasterId r:id="rId12"/>
  </p:notesMasterIdLst>
  <p:sldIdLst>
    <p:sldId id="2147482498" r:id="rId5"/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Q2 target</c:v>
          </c:tx>
          <c:spPr>
            <a:solidFill>
              <a:srgbClr val="1769C2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90-4DD9-A376-88CC58AB5CA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B90-4DD9-A376-88CC58AB5CA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B90-4DD9-A376-88CC58AB5CA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769C2"/>
                        </a:solidFill>
                      </a:rPr>
                      <a:t>€18.85M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B90-4DD9-A376-88CC58AB5C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769C2"/>
                        </a:solidFill>
                      </a:rPr>
                      <a:t>49.1%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B90-4DD9-A376-88CC58AB5C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769C2"/>
                        </a:solidFill>
                      </a:rPr>
                      <a:t>23.0%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B90-4DD9-A376-88CC58AB5C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Revenue</c:v>
              </c:pt>
              <c:pt idx="1">
                <c:v>iGM</c:v>
              </c:pt>
              <c:pt idx="2">
                <c:v>Remote Res.</c:v>
              </c:pt>
            </c:strLit>
          </c:cat>
          <c:val>
            <c:numLit>
              <c:formatCode>0%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AB90-4DD9-A376-88CC58AB5CAA}"/>
            </c:ext>
          </c:extLst>
        </c:ser>
        <c:ser>
          <c:idx val="1"/>
          <c:order val="1"/>
          <c:tx>
            <c:v>Q2 actual</c:v>
          </c:tx>
          <c:spPr>
            <a:solidFill>
              <a:srgbClr val="C9363E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AB90-4DD9-A376-88CC58AB5CA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AB90-4DD9-A376-88CC58AB5CAA}"/>
              </c:ext>
            </c:extLst>
          </c:dPt>
          <c:dPt>
            <c:idx val="2"/>
            <c:invertIfNegative val="0"/>
            <c:bubble3D val="0"/>
            <c:spPr>
              <a:solidFill>
                <a:srgbClr val="238A4B"/>
              </a:solidFill>
            </c:spPr>
            <c:extLst>
              <c:ext xmlns:c16="http://schemas.microsoft.com/office/drawing/2014/chart" uri="{C3380CC4-5D6E-409C-BE32-E72D297353CC}">
                <c16:uniqueId val="{0000000C-AB90-4DD9-A376-88CC58AB5CA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C9363E"/>
                        </a:solidFill>
                      </a:rPr>
                      <a:t>€18.55M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B90-4DD9-A376-88CC58AB5C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C9363E"/>
                        </a:solidFill>
                      </a:rPr>
                      <a:t>47.5%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AB90-4DD9-A376-88CC58AB5C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238A4B"/>
                        </a:solidFill>
                      </a:rPr>
                      <a:t>23.0%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AB90-4DD9-A376-88CC58AB5C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Revenue</c:v>
              </c:pt>
              <c:pt idx="1">
                <c:v>iGM</c:v>
              </c:pt>
              <c:pt idx="2">
                <c:v>Remote Res.</c:v>
              </c:pt>
            </c:strLit>
          </c:cat>
          <c:val>
            <c:numLit>
              <c:formatCode>0%</c:formatCode>
              <c:ptCount val="3"/>
              <c:pt idx="0">
                <c:v>0.98408488063660471</c:v>
              </c:pt>
              <c:pt idx="1">
                <c:v>0.96741344195519341</c:v>
              </c:pt>
              <c:pt idx="2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D-AB90-4DD9-A376-88CC58AB5C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EE8"/>
            </a:solidFill>
            <a:prstDash val="solid"/>
          </a:ln>
        </c:spPr>
        <c:txPr>
          <a:bodyPr anchorCtr="1"/>
          <a:lstStyle/>
          <a:p>
            <a:pPr>
              <a:defRPr sz="788" b="1">
                <a:solidFill>
                  <a:srgbClr val="15203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5EAF0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7DEE8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5B6678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2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Sales</c:v>
          </c:tx>
          <c:spPr>
            <a:solidFill>
              <a:srgbClr val="1769C2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52033"/>
                        </a:solidFill>
                      </a:rPr>
                      <a:t>€77.4M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CBF-4FC0-8441-184F155D1E1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52033"/>
                        </a:solidFill>
                      </a:rPr>
                      <a:t>€80.4M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CBF-4FC0-8441-184F155D1E1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52033"/>
                        </a:solidFill>
                      </a:rPr>
                      <a:t>€96M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CBF-4FC0-8441-184F155D1E1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>0</c:formatCode>
              <c:ptCount val="3"/>
              <c:pt idx="0">
                <c:v>77.400000000000006</c:v>
              </c:pt>
              <c:pt idx="1">
                <c:v>80.400000000000006</c:v>
              </c:pt>
              <c:pt idx="2">
                <c:v>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BCBF-4FC0-8441-184F155D1E1A}"/>
            </c:ext>
          </c:extLst>
        </c:ser>
        <c:ser>
          <c:idx val="1"/>
          <c:order val="1"/>
          <c:tx>
            <c:v>Adj. EBITA</c:v>
          </c:tx>
          <c:spPr>
            <a:solidFill>
              <a:srgbClr val="188B84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52033"/>
                        </a:solidFill>
                      </a:rPr>
                      <a:t>€30.6M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CBF-4FC0-8441-184F155D1E1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52033"/>
                        </a:solidFill>
                      </a:rPr>
                      <a:t>€34.2M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CBF-4FC0-8441-184F155D1E1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13" b="1">
                        <a:solidFill>
                          <a:srgbClr val="152033"/>
                        </a:solidFill>
                      </a:rPr>
                      <a:t>€43.2M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CBF-4FC0-8441-184F155D1E1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3"/>
              <c:pt idx="0">
                <c:v>2026</c:v>
              </c:pt>
              <c:pt idx="1">
                <c:v>2027</c:v>
              </c:pt>
              <c:pt idx="2">
                <c:v>2028</c:v>
              </c:pt>
            </c:numLit>
          </c:cat>
          <c:val>
            <c:numLit>
              <c:formatCode>0</c:formatCode>
              <c:ptCount val="3"/>
              <c:pt idx="0">
                <c:v>30.6</c:v>
              </c:pt>
              <c:pt idx="1">
                <c:v>34.17</c:v>
              </c:pt>
              <c:pt idx="2">
                <c:v>43.2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BCBF-4FC0-8441-184F155D1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EE8"/>
            </a:solidFill>
            <a:prstDash val="solid"/>
          </a:ln>
        </c:spPr>
        <c:txPr>
          <a:bodyPr anchorCtr="1"/>
          <a:lstStyle/>
          <a:p>
            <a:pPr>
              <a:defRPr sz="750" b="1">
                <a:solidFill>
                  <a:srgbClr val="15203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E5EAF0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638">
                <a:solidFill>
                  <a:srgbClr val="5B6678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13">
              <a:solidFill>
                <a:srgbClr val="5B6678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5E972-9F07-2B4C-A7FE-11ACC38BEE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032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Critical VCP Commitments rows 92-110.</a:t>
            </a:r>
          </a:p>
          <a:p>
            <a:r>
              <a:t>- The clustered chart normalizes each metric to its own Q2 target because the metrics use different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VCP Commitment Enabling KPIs rows 112-144.</a:t>
            </a:r>
          </a:p>
          <a:p>
            <a:r>
              <a:t>- KPI rows without Q2 target and actual values are excluded from the chart and shown as data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key theme/action blocks rows 2-90.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Interdependencies across all function rows 173-199.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CS VCP(1).xlsx, Service Transformation sheet, VCP impact rows 151-169 and KPI sections rows 92-144.</a:t>
            </a:r>
          </a:p>
          <a:p>
            <a:r>
              <a:t>- Market Share is shown as a directional link only because no target or actual is present in the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15.emf"/><Relationship Id="rId5" Type="http://schemas.openxmlformats.org/officeDocument/2006/relationships/tags" Target="../tags/tag19.xml"/><Relationship Id="rId10" Type="http://schemas.openxmlformats.org/officeDocument/2006/relationships/oleObject" Target="../embeddings/oleObject5.bin"/><Relationship Id="rId4" Type="http://schemas.openxmlformats.org/officeDocument/2006/relationships/tags" Target="../tags/tag18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5351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3065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780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6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65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36" y="377496"/>
            <a:ext cx="1122323" cy="61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06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5351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3065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780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560" y="3657619"/>
            <a:ext cx="804672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3235667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1" y="659401"/>
            <a:ext cx="10883616" cy="199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4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1" y="5954759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1" y="5702473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1" y="5450188"/>
            <a:ext cx="573024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560" y="3657600"/>
            <a:ext cx="8067040" cy="16093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3230880"/>
            <a:ext cx="804672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1" y="659401"/>
            <a:ext cx="10883616" cy="199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13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50987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700405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5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6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0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70560" y="5949696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670560" y="5699760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0560" y="5449824"/>
            <a:ext cx="4145280" cy="243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0" y="658369"/>
            <a:ext cx="4145280" cy="7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7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48768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9472" y="2452377"/>
            <a:ext cx="4876373" cy="3808724"/>
          </a:xfrm>
        </p:spPr>
        <p:txBody>
          <a:bodyPr/>
          <a:lstStyle>
            <a:lvl1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8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List item</a:t>
            </a:r>
          </a:p>
          <a:p>
            <a:pPr lvl="1"/>
            <a:r>
              <a:rPr lang="en-US"/>
              <a:t>List item</a:t>
            </a:r>
          </a:p>
          <a:p>
            <a:pPr lvl="2"/>
            <a:r>
              <a:rPr lang="en-US"/>
              <a:t>List item</a:t>
            </a:r>
          </a:p>
          <a:p>
            <a:pPr lvl="3"/>
            <a:r>
              <a:rPr lang="en-US"/>
              <a:t>List item</a:t>
            </a:r>
          </a:p>
          <a:p>
            <a:pPr lvl="4"/>
            <a:r>
              <a:rPr lang="en-US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5" y="1299361"/>
            <a:ext cx="4876375" cy="95884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BDF0FF"/>
                </a:solidFill>
              </a:defRPr>
            </a:lvl1pPr>
          </a:lstStyle>
          <a:p>
            <a:r>
              <a:rPr lang="en-US"/>
              <a:t>Type your headline here </a:t>
            </a:r>
            <a:br>
              <a:rPr lang="en-US"/>
            </a:br>
            <a:r>
              <a:rPr lang="en-US"/>
              <a:t>(ex: Agenda)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9472" y="817929"/>
            <a:ext cx="2987040" cy="287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1">
                <a:solidFill>
                  <a:srgbClr val="BDF0FF"/>
                </a:solidFill>
              </a:defRPr>
            </a:lvl1pPr>
            <a:lvl2pPr marL="243829" indent="0">
              <a:buNone/>
              <a:defRPr sz="1867" b="1">
                <a:solidFill>
                  <a:schemeClr val="bg2"/>
                </a:solidFill>
              </a:defRPr>
            </a:lvl2pPr>
            <a:lvl3pPr marL="429069" indent="0">
              <a:buNone/>
              <a:defRPr sz="1867" b="1">
                <a:solidFill>
                  <a:schemeClr val="bg2"/>
                </a:solidFill>
              </a:defRPr>
            </a:lvl3pPr>
            <a:lvl4pPr marL="609570" indent="0">
              <a:buNone/>
              <a:defRPr sz="1867" b="1">
                <a:solidFill>
                  <a:schemeClr val="bg2"/>
                </a:solidFill>
              </a:defRPr>
            </a:lvl4pPr>
            <a:lvl5pPr marL="791592" indent="0">
              <a:buNone/>
              <a:defRPr sz="1867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Date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9472" y="498539"/>
            <a:ext cx="2987040" cy="287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 b="1">
                <a:solidFill>
                  <a:srgbClr val="BDF0FF"/>
                </a:solidFill>
              </a:defRPr>
            </a:lvl1pPr>
            <a:lvl2pPr marL="243829" indent="0">
              <a:buNone/>
              <a:defRPr sz="1867" b="1">
                <a:solidFill>
                  <a:schemeClr val="bg2"/>
                </a:solidFill>
              </a:defRPr>
            </a:lvl2pPr>
            <a:lvl3pPr marL="429069" indent="0">
              <a:buNone/>
              <a:defRPr sz="1867" b="1">
                <a:solidFill>
                  <a:schemeClr val="bg2"/>
                </a:solidFill>
              </a:defRPr>
            </a:lvl3pPr>
            <a:lvl4pPr marL="609570" indent="0">
              <a:buNone/>
              <a:defRPr sz="1867" b="1">
                <a:solidFill>
                  <a:schemeClr val="bg2"/>
                </a:solidFill>
              </a:defRPr>
            </a:lvl4pPr>
            <a:lvl5pPr marL="791592" indent="0">
              <a:buNone/>
              <a:defRPr sz="1867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Meeting/Event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98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8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White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60874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Light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46830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4575" y="2949578"/>
            <a:ext cx="4239328" cy="958849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4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divider, </a:t>
            </a:r>
            <a:br>
              <a:rPr lang="en-US"/>
            </a:br>
            <a:r>
              <a:rPr lang="en-US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6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8" y="2197895"/>
            <a:ext cx="10850881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Philips blue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0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rgbClr val="00126E"/>
                </a:solidFill>
              </a:defRPr>
            </a:lvl1pPr>
          </a:lstStyle>
          <a:p>
            <a:r>
              <a:rPr lang="en-US"/>
              <a:t>White divider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26024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rgbClr val="00126E"/>
                </a:solidFill>
              </a:defRPr>
            </a:lvl1pPr>
          </a:lstStyle>
          <a:p>
            <a:r>
              <a:rPr lang="en-US"/>
              <a:t>Light blue divider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66978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Dark blue divider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9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499873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1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1107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7168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53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49" y="1615017"/>
            <a:ext cx="10850880" cy="46464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5255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27111" y="1615017"/>
            <a:ext cx="5098141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5098141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5574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03317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Type your slide headline here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8882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37573" y="0"/>
            <a:ext cx="7851648" cy="68580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" y="501656"/>
            <a:ext cx="3169920" cy="96316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43436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46865" y="501656"/>
            <a:ext cx="3169920" cy="96316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7854427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45456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Click icon to insert your photo OR </a:t>
            </a:r>
            <a:br>
              <a:rPr lang="en-US" noProof="0"/>
            </a:br>
            <a:r>
              <a:rPr lang="en-US" noProof="0"/>
              <a:t>select one from PAL through Templafy 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Then, use “Crop” to recenter and resize </a:t>
            </a:r>
            <a:br>
              <a:rPr lang="en-US" noProof="0"/>
            </a:br>
            <a:r>
              <a:rPr lang="en-US" noProof="0"/>
              <a:t>your image if your subject appears off-center</a:t>
            </a: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4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5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79" y="527228"/>
            <a:ext cx="1536836" cy="280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705264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800"/>
              </a:spcAft>
              <a:buSzPct val="75000"/>
              <a:buFontTx/>
              <a:buNone/>
            </a:pPr>
            <a:r>
              <a:rPr lang="en-US" sz="12800" b="0" i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076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43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79" y="527228"/>
            <a:ext cx="1536836" cy="280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705265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800"/>
              </a:spcAft>
              <a:buSzPct val="75000"/>
              <a:buFontTx/>
              <a:buNone/>
            </a:pPr>
            <a:r>
              <a:rPr lang="en-US" sz="12800" b="0" i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1608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93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519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2133"/>
              </a:lnSpc>
              <a:spcBef>
                <a:spcPct val="0"/>
              </a:spcBef>
              <a:spcAft>
                <a:spcPct val="0"/>
              </a:spcAft>
            </a:pPr>
            <a:endParaRPr lang="en-US" sz="2133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3373123" y="52207"/>
            <a:ext cx="6988539" cy="787200"/>
          </a:xfrm>
        </p:spPr>
        <p:txBody>
          <a:bodyPr/>
          <a:lstStyle>
            <a:lvl1pPr algn="l">
              <a:lnSpc>
                <a:spcPts val="2133"/>
              </a:lnSpc>
              <a:defRPr sz="2133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5941" y="471161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5941" y="680640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5941" y="52207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941" y="261684"/>
            <a:ext cx="3133256" cy="1728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067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/>
          <p:cNvCxnSpPr/>
          <p:nvPr userDrawn="1">
            <p:custDataLst>
              <p:tags r:id="rId3"/>
            </p:custDataLst>
          </p:nvPr>
        </p:nvCxnSpPr>
        <p:spPr>
          <a:xfrm>
            <a:off x="0" y="950192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044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83439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70" y="501653"/>
            <a:ext cx="10031916" cy="958849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rgbClr val="00629F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91CE8-1286-8B44-89AD-06BCF1ECB0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noProof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5163908-529D-4A49-892F-D37C4044DFD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102" y="1615017"/>
            <a:ext cx="10847919" cy="4646400"/>
          </a:xfrm>
        </p:spPr>
        <p:txBody>
          <a:bodyPr lIns="0" tIns="0" rIns="0" bIns="0" numCol="1" spcCol="270000">
            <a:noAutofit/>
          </a:bodyPr>
          <a:lstStyle>
            <a:lvl1pPr>
              <a:lnSpc>
                <a:spcPct val="100000"/>
              </a:lnSpc>
              <a:defRPr sz="1867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00000"/>
              </a:lnSpc>
              <a:defRPr sz="1333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0546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0296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1" cy="15875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n-US" sz="1800" noProof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3"/>
            <a:ext cx="7918704" cy="492443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2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01670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57098986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tags" Target="../tags/tag1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3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E79E2AF-5645-493D-E365-0D236CEFCF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74080318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404" imgH="405" progId="TCLayout.ActiveDocument.1">
                  <p:embed/>
                </p:oleObj>
              </mc:Choice>
              <mc:Fallback>
                <p:oleObj name="think-cell Slide" r:id="rId41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79E2AF-5645-493D-E365-0D236CEFC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25500" y="6571488"/>
            <a:ext cx="21600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42831" y="6571488"/>
            <a:ext cx="266631" cy="12192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099" y="1615017"/>
            <a:ext cx="10843687" cy="4646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986" y="501655"/>
            <a:ext cx="10843687" cy="9588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4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1219108" rtl="0" eaLnBrk="1" latinLnBrk="0" hangingPunct="1">
        <a:lnSpc>
          <a:spcPct val="100000"/>
        </a:lnSpc>
        <a:spcBef>
          <a:spcPct val="0"/>
        </a:spcBef>
        <a:spcAft>
          <a:spcPts val="800"/>
        </a:spcAft>
        <a:buNone/>
        <a:defRPr lang="en-US" sz="32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5067" indent="-195067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393590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590385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787180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US" sz="1867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983975" indent="-196795" algn="l" defTabSz="244794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rgbClr val="000000"/>
        </a:buClr>
        <a:buSzPct val="75000"/>
        <a:buChar char="•"/>
        <a:defRPr lang="en-IN" sz="1867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1180770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lang="en-US" sz="1867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377566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574361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771156" indent="-196795" algn="l" defTabSz="121910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SzPct val="7500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A4A3A4"/>
          </p15:clr>
        </p15:guide>
        <p15:guide id="4" orient="horz" pos="228">
          <p15:clr>
            <a:srgbClr val="A4A3A4"/>
          </p15:clr>
        </p15:guide>
        <p15:guide id="7" orient="horz" pos="2964">
          <p15:clr>
            <a:srgbClr val="A4A3A4"/>
          </p15:clr>
        </p15:guide>
        <p15:guide id="15" orient="horz" pos="1620">
          <p15:clr>
            <a:srgbClr val="F26B43"/>
          </p15:clr>
        </p15:guide>
        <p15:guide id="16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0D8A56-E6CD-5FD7-E320-F1D29502F0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0559" y="2743200"/>
            <a:ext cx="9321852" cy="1609344"/>
          </a:xfrm>
        </p:spPr>
        <p:txBody>
          <a:bodyPr/>
          <a:lstStyle/>
          <a:p>
            <a:r>
              <a:rPr lang="en-US" dirty="0"/>
              <a:t>CS VCP Program Execution 2026-2028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B594E9-6228-DC14-39DA-DF89DB34ED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MoS Strategic Execution</a:t>
            </a:r>
          </a:p>
        </p:txBody>
      </p:sp>
      <p:sp>
        <p:nvSpPr>
          <p:cNvPr id="2" name="Title 2" hidden="1">
            <a:extLst>
              <a:ext uri="{FF2B5EF4-FFF2-40B4-BE49-F238E27FC236}">
                <a16:creationId xmlns:a16="http://schemas.microsoft.com/office/drawing/2014/main" id="{0747556C-BFCF-7ED2-06D4-00F0C3CF9E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" y="-958851"/>
            <a:ext cx="10843684" cy="228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08">
              <a:spcAft>
                <a:spcPts val="800"/>
              </a:spcAft>
              <a:defRPr/>
            </a:pPr>
            <a:r>
              <a:rPr lang="en-US" sz="1200">
                <a:solidFill>
                  <a:schemeClr val="tx2">
                    <a:alpha val="0"/>
                  </a:schemeClr>
                </a:solidFill>
              </a:rPr>
              <a:t>Presentation cover slide example: Vertical white logo on blue background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4458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D4E18B2-B8C1-454F-B4C1-C365CE6776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03B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B40B0-2224-4FEA-B3B8-70EF2849A5ED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CRITICAL VCP COMMITMENTS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B67F46-CCFB-4AC4-8F89-626E54E862BB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Q2 target vs actual for critical KPIs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CCF00E-6C47-4A27-864B-7E1B937FBD20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Target bars are blue. Actual bars turn green when achieved and red when below target.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F32A0-A4ED-43BB-A594-D289B9FAE403}"/>
              </a:ext>
            </a:extLst>
          </p:cNvPr>
          <p:cNvSpPr>
            <a:spLocks noGrp="1"/>
          </p:cNvSpPr>
          <p:nvPr/>
        </p:nvSpPr>
        <p:spPr>
          <a:xfrm>
            <a:off x="9572625" y="28575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Monthly VCP report | 1/6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0B72AE-10BB-45CB-A31A-20595D32AD06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3333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F2CF98-F273-4B45-A38A-96D3D64F53AC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57150" cy="838200"/>
          </a:xfrm>
          <a:prstGeom prst="rect">
            <a:avLst/>
          </a:prstGeom>
          <a:solidFill>
            <a:srgbClr val="238A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B8BE8C-DC5E-4AF7-A32A-16BFC266EA5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238A4B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>
                <a:solidFill>
                  <a:srgbClr val="238A4B"/>
                </a:solidFill>
                <a:latin typeface="Arial"/>
                <a:ea typeface="Arial"/>
                <a:cs typeface="Arial"/>
              </a:rPr>
              <a:t>03</a:t>
            </a:r>
            <a:endParaRPr sz="1875" b="1" dirty="0">
              <a:solidFill>
                <a:srgbClr val="238A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E0D54B-5445-489B-B862-BDD974C42727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lang="en-US" sz="915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Total Critical KPIs</a:t>
            </a:r>
            <a:endParaRPr sz="915" b="1" dirty="0">
              <a:solidFill>
                <a:srgbClr val="1520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1D81EA-0D3D-4BAD-A7DC-91BFCA5E5FEB}"/>
              </a:ext>
            </a:extLst>
          </p:cNvPr>
          <p:cNvSpPr>
            <a:spLocks noGrp="1"/>
          </p:cNvSpPr>
          <p:nvPr/>
        </p:nvSpPr>
        <p:spPr>
          <a:xfrm>
            <a:off x="514350" y="2647950"/>
            <a:ext cx="6858000" cy="392430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CC3824-3607-4A13-AE9D-731F60C591B7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6515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Q2 target and actual by critical KPI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A72406-E9C3-4660-B92D-209EE516D2AE}"/>
              </a:ext>
            </a:extLst>
          </p:cNvPr>
          <p:cNvSpPr>
            <a:spLocks noGrp="1"/>
          </p:cNvSpPr>
          <p:nvPr/>
        </p:nvSpPr>
        <p:spPr>
          <a:xfrm>
            <a:off x="3657600" y="30861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769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691E77-D231-49A1-A042-63CB7E8DA992}"/>
              </a:ext>
            </a:extLst>
          </p:cNvPr>
          <p:cNvSpPr>
            <a:spLocks noGrp="1"/>
          </p:cNvSpPr>
          <p:nvPr/>
        </p:nvSpPr>
        <p:spPr>
          <a:xfrm>
            <a:off x="3829050" y="3048000"/>
            <a:ext cx="971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Q2 target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899DAF-BC0C-4889-A633-3506BA424E51}"/>
              </a:ext>
            </a:extLst>
          </p:cNvPr>
          <p:cNvSpPr>
            <a:spLocks noGrp="1"/>
          </p:cNvSpPr>
          <p:nvPr/>
        </p:nvSpPr>
        <p:spPr>
          <a:xfrm>
            <a:off x="4857750" y="30861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38A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C4D114-796C-4250-BABF-840CADB37853}"/>
              </a:ext>
            </a:extLst>
          </p:cNvPr>
          <p:cNvSpPr>
            <a:spLocks noGrp="1"/>
          </p:cNvSpPr>
          <p:nvPr/>
        </p:nvSpPr>
        <p:spPr>
          <a:xfrm>
            <a:off x="5029200" y="3048000"/>
            <a:ext cx="971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Actual achieved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204AFC-77E7-4A8B-8EF6-32578389946D}"/>
              </a:ext>
            </a:extLst>
          </p:cNvPr>
          <p:cNvSpPr>
            <a:spLocks noGrp="1"/>
          </p:cNvSpPr>
          <p:nvPr/>
        </p:nvSpPr>
        <p:spPr>
          <a:xfrm>
            <a:off x="6057900" y="30861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9C1432-96B8-4A60-9678-50C334DC3D0D}"/>
              </a:ext>
            </a:extLst>
          </p:cNvPr>
          <p:cNvSpPr>
            <a:spLocks noGrp="1"/>
          </p:cNvSpPr>
          <p:nvPr/>
        </p:nvSpPr>
        <p:spPr>
          <a:xfrm>
            <a:off x="6229350" y="3048000"/>
            <a:ext cx="971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1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Actual below</a:t>
            </a:r>
          </a:p>
        </p:txBody>
      </p:sp>
      <p:graphicFrame>
        <p:nvGraphicFramePr>
          <p:cNvPr id="61" name="Chart"/>
          <p:cNvGraphicFramePr/>
          <p:nvPr>
            <p:extLst>
              <p:ext uri="{D42A27DB-BD31-4B8C-83A1-F6EECF244321}">
                <p14:modId xmlns:p14="http://schemas.microsoft.com/office/powerpoint/2010/main" val="642543770"/>
              </p:ext>
            </p:extLst>
          </p:nvPr>
        </p:nvGraphicFramePr>
        <p:xfrm>
          <a:off x="742950" y="3343275"/>
          <a:ext cx="6400800" cy="3130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CD18E5E-3C84-4A5A-9041-B50D46E68664}"/>
              </a:ext>
            </a:extLst>
          </p:cNvPr>
          <p:cNvSpPr>
            <a:spLocks noGrp="1"/>
          </p:cNvSpPr>
          <p:nvPr/>
        </p:nvSpPr>
        <p:spPr>
          <a:xfrm>
            <a:off x="7658100" y="1562100"/>
            <a:ext cx="3771900" cy="501015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1AA564-1D3E-4127-AC64-4FF089B203B1}"/>
              </a:ext>
            </a:extLst>
          </p:cNvPr>
          <p:cNvSpPr>
            <a:spLocks noGrp="1"/>
          </p:cNvSpPr>
          <p:nvPr/>
        </p:nvSpPr>
        <p:spPr>
          <a:xfrm>
            <a:off x="7829550" y="16954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Monthly remarks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F68DF4-EB29-407A-AFCB-0C9C7676B0DD}"/>
              </a:ext>
            </a:extLst>
          </p:cNvPr>
          <p:cNvSpPr>
            <a:spLocks noGrp="1"/>
          </p:cNvSpPr>
          <p:nvPr/>
        </p:nvSpPr>
        <p:spPr>
          <a:xfrm>
            <a:off x="7829550" y="2095500"/>
            <a:ext cx="1000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9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800099-8E14-48CD-846B-BFDB66413B16}"/>
              </a:ext>
            </a:extLst>
          </p:cNvPr>
          <p:cNvSpPr>
            <a:spLocks noGrp="1"/>
          </p:cNvSpPr>
          <p:nvPr/>
        </p:nvSpPr>
        <p:spPr>
          <a:xfrm>
            <a:off x="8782050" y="2076450"/>
            <a:ext cx="2419350" cy="121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32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832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€0.30M below Q2 target. A quantified regional recovery bridge is not captured in the sheet.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ABFF95-1ABE-403C-B0C1-328DE50637B5}"/>
              </a:ext>
            </a:extLst>
          </p:cNvPr>
          <p:cNvSpPr>
            <a:spLocks noGrp="1"/>
          </p:cNvSpPr>
          <p:nvPr/>
        </p:nvSpPr>
        <p:spPr>
          <a:xfrm>
            <a:off x="7829550" y="3346450"/>
            <a:ext cx="342900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41652A-087F-4F2A-B064-396BAAAE9147}"/>
              </a:ext>
            </a:extLst>
          </p:cNvPr>
          <p:cNvSpPr>
            <a:spLocks noGrp="1"/>
          </p:cNvSpPr>
          <p:nvPr/>
        </p:nvSpPr>
        <p:spPr>
          <a:xfrm>
            <a:off x="7829550" y="3441700"/>
            <a:ext cx="1000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9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SERVICE IGM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75BA8F-5476-4BC0-8F69-B174F652D056}"/>
              </a:ext>
            </a:extLst>
          </p:cNvPr>
          <p:cNvSpPr>
            <a:spLocks noGrp="1"/>
          </p:cNvSpPr>
          <p:nvPr/>
        </p:nvSpPr>
        <p:spPr>
          <a:xfrm>
            <a:off x="8782050" y="3422650"/>
            <a:ext cx="2419350" cy="121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32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832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1.6 pts below Q2 target. Pricing and productivity actions need quantified contribution.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5E07AB-F821-4968-BBE5-BD525B91CCCD}"/>
              </a:ext>
            </a:extLst>
          </p:cNvPr>
          <p:cNvSpPr>
            <a:spLocks noGrp="1"/>
          </p:cNvSpPr>
          <p:nvPr/>
        </p:nvSpPr>
        <p:spPr>
          <a:xfrm>
            <a:off x="7829550" y="4692650"/>
            <a:ext cx="342900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9C6F17-AF34-4BB2-B617-EF0874B12403}"/>
              </a:ext>
            </a:extLst>
          </p:cNvPr>
          <p:cNvSpPr>
            <a:spLocks noGrp="1"/>
          </p:cNvSpPr>
          <p:nvPr/>
        </p:nvSpPr>
        <p:spPr>
          <a:xfrm>
            <a:off x="7829550" y="4787900"/>
            <a:ext cx="1000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90" b="1">
                <a:solidFill>
                  <a:srgbClr val="238A4B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238A4B"/>
                </a:solidFill>
                <a:latin typeface="Arial"/>
                <a:ea typeface="Arial"/>
                <a:cs typeface="Arial"/>
              </a:rPr>
              <a:t>REMOTE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1A7B91-FC85-4A42-B3A7-C37251716FC7}"/>
              </a:ext>
            </a:extLst>
          </p:cNvPr>
          <p:cNvSpPr>
            <a:spLocks noGrp="1"/>
          </p:cNvSpPr>
          <p:nvPr/>
        </p:nvSpPr>
        <p:spPr>
          <a:xfrm>
            <a:off x="8782050" y="4768850"/>
            <a:ext cx="2419350" cy="121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32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832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At the 23.0% Q2 target. Protect performance through RSDI, PSC10 and AI-enabled service.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2E3F18C-8D79-2190-9956-0413A530C686}"/>
              </a:ext>
            </a:extLst>
          </p:cNvPr>
          <p:cNvSpPr>
            <a:spLocks noGrp="1"/>
          </p:cNvSpPr>
          <p:nvPr/>
        </p:nvSpPr>
        <p:spPr>
          <a:xfrm>
            <a:off x="4086225" y="1524000"/>
            <a:ext cx="3333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46E038-531D-1CE3-7F3F-8B2A48A58BB3}"/>
              </a:ext>
            </a:extLst>
          </p:cNvPr>
          <p:cNvSpPr>
            <a:spLocks noGrp="1"/>
          </p:cNvSpPr>
          <p:nvPr/>
        </p:nvSpPr>
        <p:spPr>
          <a:xfrm>
            <a:off x="4086225" y="1524000"/>
            <a:ext cx="57150" cy="838200"/>
          </a:xfrm>
          <a:prstGeom prst="rect">
            <a:avLst/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B566D7-1C23-B5F8-5535-BD2B3E2914DF}"/>
              </a:ext>
            </a:extLst>
          </p:cNvPr>
          <p:cNvSpPr>
            <a:spLocks noGrp="1"/>
          </p:cNvSpPr>
          <p:nvPr/>
        </p:nvSpPr>
        <p:spPr>
          <a:xfrm>
            <a:off x="4257675" y="163830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F43D4E-BF29-8AC0-93C2-A123A1E48638}"/>
              </a:ext>
            </a:extLst>
          </p:cNvPr>
          <p:cNvSpPr>
            <a:spLocks noGrp="1"/>
          </p:cNvSpPr>
          <p:nvPr/>
        </p:nvSpPr>
        <p:spPr>
          <a:xfrm>
            <a:off x="4257675" y="1952625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Critical KPIs below Q2 target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C1453A-7B00-70E1-A806-835B18F56433}"/>
              </a:ext>
            </a:extLst>
          </p:cNvPr>
          <p:cNvSpPr>
            <a:spLocks noGrp="1"/>
          </p:cNvSpPr>
          <p:nvPr/>
        </p:nvSpPr>
        <p:spPr>
          <a:xfrm>
            <a:off x="4257675" y="2152650"/>
            <a:ext cx="2990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Service Revenue and Service </a:t>
            </a:r>
            <a:r>
              <a:rPr sz="728" b="0" dirty="0" err="1">
                <a:solidFill>
                  <a:srgbClr val="5B6678"/>
                </a:solidFill>
                <a:latin typeface="Arial"/>
                <a:ea typeface="Arial"/>
                <a:cs typeface="Arial"/>
              </a:rPr>
              <a:t>iGM</a:t>
            </a:r>
            <a:r>
              <a:rPr sz="728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 need recovery action</a:t>
            </a:r>
          </a:p>
        </p:txBody>
      </p:sp>
    </p:spTree>
    <p:extLst>
      <p:ext uri="{BB962C8B-B14F-4D97-AF65-F5344CB8AC3E}">
        <p14:creationId xmlns:p14="http://schemas.microsoft.com/office/powerpoint/2010/main" val="32948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EDFE24A1-A204-4568-B119-411A9B9E5F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03B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8EC74-2F2F-4F4D-82BE-8ACCC4EA53D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VCP COMMITMENT ENABLING KPIS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0F457-B7CB-4940-80ED-71EE26CEB1E0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Two enabling KPIs are Q2-ready, and both are 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571C-610B-497E-9B1D-36B1F5A190F3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The chart covers Contract Penetration and CLV Revenue; four other KPI rows have no quarterly target/actual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1A589-7BB1-492E-98F1-AB5EA379BF0E}"/>
              </a:ext>
            </a:extLst>
          </p:cNvPr>
          <p:cNvSpPr>
            <a:spLocks noGrp="1"/>
          </p:cNvSpPr>
          <p:nvPr/>
        </p:nvSpPr>
        <p:spPr>
          <a:xfrm>
            <a:off x="9572625" y="28575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Monthly VCP report | 2/6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62FA32-4F89-49B4-9F42-1F4CB72D74E3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9240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944253-E4B6-4D13-A45F-0F25261CC407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7150" cy="838200"/>
          </a:xfrm>
          <a:prstGeom prst="rect">
            <a:avLst/>
          </a:prstGeom>
          <a:solidFill>
            <a:srgbClr val="1769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11261-7C4A-4122-8E63-2CECD3E510F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2/6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9D41E-8BF5-49F4-BE13-3E9C9F32D4FB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Q2-ready KPIs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04105-A95A-418C-95AB-24A59FD7212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581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Target and actual present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312AC-03BB-45A6-B306-7FA20AC0DB35}"/>
              </a:ext>
            </a:extLst>
          </p:cNvPr>
          <p:cNvSpPr>
            <a:spLocks noGrp="1"/>
          </p:cNvSpPr>
          <p:nvPr/>
        </p:nvSpPr>
        <p:spPr>
          <a:xfrm>
            <a:off x="2609850" y="1562100"/>
            <a:ext cx="19240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CE77E-B76C-4705-882B-4AAD67FD18A3}"/>
              </a:ext>
            </a:extLst>
          </p:cNvPr>
          <p:cNvSpPr>
            <a:spLocks noGrp="1"/>
          </p:cNvSpPr>
          <p:nvPr/>
        </p:nvSpPr>
        <p:spPr>
          <a:xfrm>
            <a:off x="2609850" y="1562100"/>
            <a:ext cx="57150" cy="838200"/>
          </a:xfrm>
          <a:prstGeom prst="rect">
            <a:avLst/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EA5B1-8D2C-4BBE-BFC1-AFE527499ACF}"/>
              </a:ext>
            </a:extLst>
          </p:cNvPr>
          <p:cNvSpPr>
            <a:spLocks noGrp="1"/>
          </p:cNvSpPr>
          <p:nvPr/>
        </p:nvSpPr>
        <p:spPr>
          <a:xfrm>
            <a:off x="2781300" y="167640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017C8E-5038-4271-9EBD-140D48995426}"/>
              </a:ext>
            </a:extLst>
          </p:cNvPr>
          <p:cNvSpPr>
            <a:spLocks noGrp="1"/>
          </p:cNvSpPr>
          <p:nvPr/>
        </p:nvSpPr>
        <p:spPr>
          <a:xfrm>
            <a:off x="2781300" y="1990725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Q2 KPIs 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CC31D-ABA5-43CD-901D-6B654BE68614}"/>
              </a:ext>
            </a:extLst>
          </p:cNvPr>
          <p:cNvSpPr>
            <a:spLocks noGrp="1"/>
          </p:cNvSpPr>
          <p:nvPr/>
        </p:nvSpPr>
        <p:spPr>
          <a:xfrm>
            <a:off x="2781300" y="2190750"/>
            <a:ext cx="1581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Both populated KPIs miss target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A81147-C46B-418C-B0BF-A7914E80696B}"/>
              </a:ext>
            </a:extLst>
          </p:cNvPr>
          <p:cNvSpPr>
            <a:spLocks noGrp="1"/>
          </p:cNvSpPr>
          <p:nvPr/>
        </p:nvSpPr>
        <p:spPr>
          <a:xfrm>
            <a:off x="4705350" y="1562100"/>
            <a:ext cx="2000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1A55FD-B90E-4BDD-B6F8-C4806F081BD1}"/>
              </a:ext>
            </a:extLst>
          </p:cNvPr>
          <p:cNvSpPr>
            <a:spLocks noGrp="1"/>
          </p:cNvSpPr>
          <p:nvPr/>
        </p:nvSpPr>
        <p:spPr>
          <a:xfrm>
            <a:off x="4705350" y="1562100"/>
            <a:ext cx="57150" cy="838200"/>
          </a:xfrm>
          <a:prstGeom prst="rect">
            <a:avLst/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C10A61-517A-4A8C-A61A-330EF33321E8}"/>
              </a:ext>
            </a:extLst>
          </p:cNvPr>
          <p:cNvSpPr>
            <a:spLocks noGrp="1"/>
          </p:cNvSpPr>
          <p:nvPr/>
        </p:nvSpPr>
        <p:spPr>
          <a:xfrm>
            <a:off x="4876800" y="167640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DEEE94-8A50-4F8C-BC67-16D453272F31}"/>
              </a:ext>
            </a:extLst>
          </p:cNvPr>
          <p:cNvSpPr>
            <a:spLocks noGrp="1"/>
          </p:cNvSpPr>
          <p:nvPr/>
        </p:nvSpPr>
        <p:spPr>
          <a:xfrm>
            <a:off x="4876800" y="1990725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No quarterly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F2A167-C606-43FF-BA07-A5161048A438}"/>
              </a:ext>
            </a:extLst>
          </p:cNvPr>
          <p:cNvSpPr>
            <a:spLocks noGrp="1"/>
          </p:cNvSpPr>
          <p:nvPr/>
        </p:nvSpPr>
        <p:spPr>
          <a:xfrm>
            <a:off x="4876800" y="2190750"/>
            <a:ext cx="1657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KPI rows not reviewable monthly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54ACF7D6-9EEB-5AE8-4A98-3F7ED5E04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434812"/>
              </p:ext>
            </p:extLst>
          </p:nvPr>
        </p:nvGraphicFramePr>
        <p:xfrm>
          <a:off x="400050" y="2924992"/>
          <a:ext cx="11391900" cy="3065418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2025 baseline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2028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target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actual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Q2 signal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Committed action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Contract Penetration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48.0%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54.7%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54.0%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GTM enablement + bundling at sale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CLV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€1.3M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€0.32M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€0.16M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7372F"/>
                          </a:solidFill>
                        </a:rPr>
                        <a:t>Below target</a:t>
                      </a:r>
                    </a:p>
                  </a:txBody>
                  <a:tcPr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TechMax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, Hero features, upgrades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Part Harvesting Savings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(+)€2M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Circular economy + IB returns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Pricing / Value Realization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T&amp;M Margin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Service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525866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000000"/>
                          </a:solidFill>
                        </a:rPr>
                        <a:t>Baseline, targets, committed action and quarterly data need completion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86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BEB443-71BA-48C9-BA0D-0171039F50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03B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767726-436F-40EE-85A8-431179007B6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THEMES AND 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3FCBB-D18B-4A7A-81FF-F39BF912A803}"/>
              </a:ext>
            </a:extLst>
          </p:cNvPr>
          <p:cNvSpPr>
            <a:spLocks noGrp="1"/>
          </p:cNvSpPr>
          <p:nvPr/>
        </p:nvSpPr>
        <p:spPr>
          <a:xfrm>
            <a:off x="514350" y="762381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Year-wise themes connect execution to the 2026-28 runway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269F74-2795-480B-BFC4-631D817ECCD2}"/>
              </a:ext>
            </a:extLst>
          </p:cNvPr>
          <p:cNvSpPr>
            <a:spLocks noGrp="1"/>
          </p:cNvSpPr>
          <p:nvPr/>
        </p:nvSpPr>
        <p:spPr>
          <a:xfrm>
            <a:off x="9572625" y="28575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Monthly VCP report | 3/6</a:t>
            </a:r>
          </a:p>
        </p:txBody>
      </p:sp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3330159171"/>
              </p:ext>
            </p:extLst>
          </p:nvPr>
        </p:nvGraphicFramePr>
        <p:xfrm>
          <a:off x="514350" y="1562100"/>
          <a:ext cx="10915650" cy="4693920"/>
        </p:xfrm>
        <a:graphic>
          <a:graphicData uri="http://schemas.openxmlformats.org/drawingml/2006/table">
            <a:tbl>
              <a:tblPr/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03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theme</a:t>
                      </a:r>
                    </a:p>
                  </a:txBody>
                  <a:tcPr>
                    <a:solidFill>
                      <a:srgbClr val="103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</a:p>
                  </a:txBody>
                  <a:tcPr>
                    <a:solidFill>
                      <a:srgbClr val="103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Progress / status</a:t>
                      </a:r>
                    </a:p>
                  </a:txBody>
                  <a:tcPr>
                    <a:solidFill>
                      <a:srgbClr val="10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Profitable Growth through Customer for Life 1.9M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TechMax in Core Block (Z70/Z90); PoS for (Z10/Z30) along with Catalog; CLV - EOS Extension, FD 30X30, Becon Monitor , Win11 PSC10; Dedicated Service commercial 3 regions and Service Operations Headcount NAR 3 regions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69C2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Productivity - 1.5&lt; + 0.2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High Activity Sites Monitoring, FRU Rationalization; Li Phosphate Battery (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Poc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) ++; Service Productivity Funnel expansion; COO Improvement - Labor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hrs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 reduction,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Optimised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 allocations, Wrong 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69C2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Digital Service - ChatGPT AI Roadmap for Customer Experience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Chatbot based on Service Manual; PSC 10 and Connectivity improvement; RSDI - Remote software distribution and Installation -; Operational excellence - OPF, FVF, Remote resolution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69C2"/>
                          </a:solidFill>
                        </a:rPr>
                        <a:t>62% | In progress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Process Improvement - +0.5M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IB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retension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 - Visibility and Win rate; T&amp;M - Zero Sales, Process gaps; Pricing Strategy - Priority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69C2"/>
                          </a:solidFill>
                        </a:rPr>
                        <a:t>67% | In progress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CLV, TechMax Propositions Expansions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Extend to FE - AVO, Elevate Upgrade, (SW High Margin); CLV Expansion - 32Inch Monitor,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LiPH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, Wireless Video , Onscreen Keyboard (HW)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69C2"/>
                          </a:solidFill>
                        </a:rPr>
                        <a:t>25% | In progress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Market Share Gain demo HC- CP Penetration, Inside Sales, CLV GTM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CP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Imprvement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 by XX%; CLV revenue by region - DMB and Tracking; Value Proposition Workshops for Regions; GTM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B6678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Profitability through Funnelled Project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Productivity Funnel -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LiPh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 Battery, RSDI, PSC10; Warranty for consumable FRU, FRU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nego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, Derisking - PE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CSCollaboraion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; Service Delivery - CLV Margins and Contract / T&amp;M Price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Realisation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 DMB, Monitoring; Part Harvesting Supplier setup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B6678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CLV, TechMax Propositions Expansions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152033"/>
                          </a:solidFill>
                        </a:rPr>
                        <a:t>Extend to FE -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iApps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, Dual Fluro, Pinch Zoom /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Xres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, QCA, QVA, 30 FPS; CLV Expansion - 15Kw to 25KW, </a:t>
                      </a:r>
                      <a:r>
                        <a:rPr sz="1000" dirty="0" err="1">
                          <a:solidFill>
                            <a:srgbClr val="152033"/>
                          </a:solidFill>
                        </a:rPr>
                        <a:t>IGZo</a:t>
                      </a:r>
                      <a:r>
                        <a:rPr sz="1000" dirty="0">
                          <a:solidFill>
                            <a:srgbClr val="152033"/>
                          </a:solidFill>
                        </a:rPr>
                        <a:t> detector, Injector Interface (HW)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5B6678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Profitability through Funnelled Project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52033"/>
                          </a:solidFill>
                        </a:rPr>
                        <a:t>Harvest- Differentiated Parts - Parts Nova; Gillardoni Derisking - PE CS collaboration; techMax and Extended Warranty as Coreblock; Material and COO reduction - Labor cost optimisation, Allocation controls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5B6678"/>
                          </a:solidFill>
                        </a:rPr>
                        <a:t>0% | Not started</a:t>
                      </a:r>
                    </a:p>
                  </a:txBody>
                  <a:tcPr>
                    <a:solidFill>
                      <a:srgbClr val="ED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29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>
            <a:extLst>
              <a:ext uri="{FF2B5EF4-FFF2-40B4-BE49-F238E27FC236}">
                <a16:creationId xmlns:a16="http://schemas.microsoft.com/office/drawing/2014/main" id="{9C850738-8211-4DF1-96BA-177A9B60B4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03B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A1370-9541-402A-8A91-7382AF121EA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INTERDEPENDENCIES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5174D-EF7E-4A7B-A355-0B8DC2DC3B23}"/>
              </a:ext>
            </a:extLst>
          </p:cNvPr>
          <p:cNvSpPr>
            <a:spLocks noGrp="1"/>
          </p:cNvSpPr>
          <p:nvPr/>
        </p:nvSpPr>
        <p:spPr>
          <a:xfrm>
            <a:off x="514350" y="738188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Cross-functional action</a:t>
            </a:r>
            <a:r>
              <a:rPr lang="en-US" sz="240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s</a:t>
            </a:r>
            <a:endParaRPr sz="2400" b="1" dirty="0">
              <a:solidFill>
                <a:srgbClr val="1520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D610A-F722-48A7-BCED-83A5AB695E9E}"/>
              </a:ext>
            </a:extLst>
          </p:cNvPr>
          <p:cNvSpPr>
            <a:spLocks noGrp="1"/>
          </p:cNvSpPr>
          <p:nvPr/>
        </p:nvSpPr>
        <p:spPr>
          <a:xfrm>
            <a:off x="9572625" y="28575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Monthly VCP report | 4/6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D62B9F-A185-4D03-8CB6-270F0AB90D70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49BD81-ABA7-4CC3-935B-33D1D6099AB2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57150" cy="781050"/>
          </a:xfrm>
          <a:prstGeom prst="rect">
            <a:avLst/>
          </a:prstGeom>
          <a:solidFill>
            <a:srgbClr val="1769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A2CAB8-24DE-4D4B-A422-6BD58DE35A15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A1EF6-6C91-46CE-A026-A735C8B977CF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2038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Dependency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8CA3DC-E745-4379-B6BE-79FA2904D454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2038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Across five functions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EBEC40-D45A-4F29-925D-F8817B5EE8E8}"/>
              </a:ext>
            </a:extLst>
          </p:cNvPr>
          <p:cNvSpPr>
            <a:spLocks noGrp="1"/>
          </p:cNvSpPr>
          <p:nvPr/>
        </p:nvSpPr>
        <p:spPr>
          <a:xfrm>
            <a:off x="3249930" y="1487805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08661F-B29F-4BCB-84C4-BA2E6376AE96}"/>
              </a:ext>
            </a:extLst>
          </p:cNvPr>
          <p:cNvSpPr>
            <a:spLocks noGrp="1"/>
          </p:cNvSpPr>
          <p:nvPr/>
        </p:nvSpPr>
        <p:spPr>
          <a:xfrm>
            <a:off x="3249930" y="1487805"/>
            <a:ext cx="57150" cy="781050"/>
          </a:xfrm>
          <a:prstGeom prst="rect">
            <a:avLst/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E9A89-F490-41CA-AA51-91BA857D268E}"/>
              </a:ext>
            </a:extLst>
          </p:cNvPr>
          <p:cNvSpPr>
            <a:spLocks noGrp="1"/>
          </p:cNvSpPr>
          <p:nvPr/>
        </p:nvSpPr>
        <p:spPr>
          <a:xfrm>
            <a:off x="3421380" y="160210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5CB825-6504-412D-A1DD-E389C2C2347C}"/>
              </a:ext>
            </a:extLst>
          </p:cNvPr>
          <p:cNvSpPr>
            <a:spLocks noGrp="1"/>
          </p:cNvSpPr>
          <p:nvPr/>
        </p:nvSpPr>
        <p:spPr>
          <a:xfrm>
            <a:off x="3421380" y="1916430"/>
            <a:ext cx="2038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EB9CED-30D8-4126-98C7-705524E37DD6}"/>
              </a:ext>
            </a:extLst>
          </p:cNvPr>
          <p:cNvSpPr>
            <a:spLocks noGrp="1"/>
          </p:cNvSpPr>
          <p:nvPr/>
        </p:nvSpPr>
        <p:spPr>
          <a:xfrm>
            <a:off x="3421380" y="2116455"/>
            <a:ext cx="2038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Main execution risk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081B958-2F31-4C64-BDFE-1D3E5B27CA34}"/>
              </a:ext>
            </a:extLst>
          </p:cNvPr>
          <p:cNvSpPr>
            <a:spLocks noGrp="1"/>
          </p:cNvSpPr>
          <p:nvPr/>
        </p:nvSpPr>
        <p:spPr>
          <a:xfrm>
            <a:off x="5985510" y="1484400"/>
            <a:ext cx="3200400" cy="781050"/>
          </a:xfrm>
          <a:prstGeom prst="roundRect">
            <a:avLst>
              <a:gd name="adj" fmla="val 9756"/>
            </a:avLst>
          </a:prstGeom>
          <a:solidFill>
            <a:srgbClr val="E6F0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86C084-8ABF-4AF9-AE8E-6AB89A0BCF5E}"/>
              </a:ext>
            </a:extLst>
          </p:cNvPr>
          <p:cNvSpPr>
            <a:spLocks noGrp="1"/>
          </p:cNvSpPr>
          <p:nvPr/>
        </p:nvSpPr>
        <p:spPr>
          <a:xfrm>
            <a:off x="6176010" y="16177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Leadership focus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D06F0F-A630-4819-8709-D8FECD1DD3ED}"/>
              </a:ext>
            </a:extLst>
          </p:cNvPr>
          <p:cNvSpPr>
            <a:spLocks noGrp="1"/>
          </p:cNvSpPr>
          <p:nvPr/>
        </p:nvSpPr>
        <p:spPr>
          <a:xfrm>
            <a:off x="6176010" y="18463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Marketing and Quality hold 9 of the 11 not-started actions.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DACDF5C-2C82-4BF8-AD45-A594026CEBA3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91565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F1B8CD-923D-4785-A86B-D005F333FF23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1057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Dependency action register (one action per line)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7970DE2-382B-487C-BA98-49BC26C96FC2}"/>
              </a:ext>
            </a:extLst>
          </p:cNvPr>
          <p:cNvSpPr>
            <a:spLocks noGrp="1"/>
          </p:cNvSpPr>
          <p:nvPr/>
        </p:nvSpPr>
        <p:spPr>
          <a:xfrm>
            <a:off x="9429750" y="2590800"/>
            <a:ext cx="1752600" cy="209550"/>
          </a:xfrm>
          <a:prstGeom prst="roundRect">
            <a:avLst>
              <a:gd name="adj" fmla="val 50000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934D07-9106-47AA-8AD7-FF95E4667636}"/>
              </a:ext>
            </a:extLst>
          </p:cNvPr>
          <p:cNvSpPr>
            <a:spLocks noGrp="1"/>
          </p:cNvSpPr>
          <p:nvPr/>
        </p:nvSpPr>
        <p:spPr>
          <a:xfrm>
            <a:off x="9505950" y="2592324"/>
            <a:ext cx="16002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70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8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2028: no actions captured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163E09-671E-4341-91F3-83F30EB5B709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10610850" cy="238125"/>
          </a:xfrm>
          <a:prstGeom prst="rect">
            <a:avLst/>
          </a:prstGeom>
          <a:solidFill>
            <a:srgbClr val="103B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8E7B50-E64F-4017-B81D-0969029743DA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4191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3E11BD-62ED-472C-90EA-8FB341DF806A}"/>
              </a:ext>
            </a:extLst>
          </p:cNvPr>
          <p:cNvSpPr>
            <a:spLocks noGrp="1"/>
          </p:cNvSpPr>
          <p:nvPr/>
        </p:nvSpPr>
        <p:spPr>
          <a:xfrm>
            <a:off x="1276350" y="2971800"/>
            <a:ext cx="781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C336E-12E4-49C3-A677-A1FDC5598001}"/>
              </a:ext>
            </a:extLst>
          </p:cNvPr>
          <p:cNvSpPr>
            <a:spLocks noGrp="1"/>
          </p:cNvSpPr>
          <p:nvPr/>
        </p:nvSpPr>
        <p:spPr>
          <a:xfrm>
            <a:off x="2190750" y="2971800"/>
            <a:ext cx="79152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3DD7BA-AF82-4BCC-9577-423A5269291D}"/>
              </a:ext>
            </a:extLst>
          </p:cNvPr>
          <p:cNvSpPr>
            <a:spLocks noGrp="1"/>
          </p:cNvSpPr>
          <p:nvPr/>
        </p:nvSpPr>
        <p:spPr>
          <a:xfrm>
            <a:off x="10325100" y="297180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6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1BE879-541A-459C-9150-847945641E7A}"/>
              </a:ext>
            </a:extLst>
          </p:cNvPr>
          <p:cNvSpPr>
            <a:spLocks noGrp="1"/>
          </p:cNvSpPr>
          <p:nvPr/>
        </p:nvSpPr>
        <p:spPr>
          <a:xfrm>
            <a:off x="666750" y="3152775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70A70C-8322-420D-95EE-E36B9B8A6231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079CAB-22DB-4179-933B-29D3B97E954D}"/>
              </a:ext>
            </a:extLst>
          </p:cNvPr>
          <p:cNvSpPr>
            <a:spLocks noGrp="1"/>
          </p:cNvSpPr>
          <p:nvPr/>
        </p:nvSpPr>
        <p:spPr>
          <a:xfrm>
            <a:off x="1276350" y="3181350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ISC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34BCF3-24D4-4AD5-A91F-1CEADF221B81}"/>
              </a:ext>
            </a:extLst>
          </p:cNvPr>
          <p:cNvSpPr>
            <a:spLocks noGrp="1"/>
          </p:cNvSpPr>
          <p:nvPr/>
        </p:nvSpPr>
        <p:spPr>
          <a:xfrm>
            <a:off x="2190750" y="3181350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Identify Late customisation option which can be upgraded as FE kit to support core standard configuration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3EE97D0-FA35-4B28-92F9-8A0BC8CBCD87}"/>
              </a:ext>
            </a:extLst>
          </p:cNvPr>
          <p:cNvSpPr>
            <a:spLocks noGrp="1"/>
          </p:cNvSpPr>
          <p:nvPr/>
        </p:nvSpPr>
        <p:spPr>
          <a:xfrm>
            <a:off x="10363200" y="3171825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6F0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6F06B3-74E3-4BAD-B3AF-80D97EB43AD1}"/>
              </a:ext>
            </a:extLst>
          </p:cNvPr>
          <p:cNvSpPr>
            <a:spLocks noGrp="1"/>
          </p:cNvSpPr>
          <p:nvPr/>
        </p:nvSpPr>
        <p:spPr>
          <a:xfrm>
            <a:off x="10401300" y="3181350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5B19C1-FA02-4717-936D-31D9ACF5DCB2}"/>
              </a:ext>
            </a:extLst>
          </p:cNvPr>
          <p:cNvSpPr>
            <a:spLocks noGrp="1"/>
          </p:cNvSpPr>
          <p:nvPr/>
        </p:nvSpPr>
        <p:spPr>
          <a:xfrm>
            <a:off x="762000" y="3361134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696077-4F40-4A49-A80B-43DBDCB7660F}"/>
              </a:ext>
            </a:extLst>
          </p:cNvPr>
          <p:cNvSpPr>
            <a:spLocks noGrp="1"/>
          </p:cNvSpPr>
          <p:nvPr/>
        </p:nvSpPr>
        <p:spPr>
          <a:xfrm>
            <a:off x="1276350" y="3361134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43C280-F8E4-4955-8088-7F446C63366B}"/>
              </a:ext>
            </a:extLst>
          </p:cNvPr>
          <p:cNvSpPr>
            <a:spLocks noGrp="1"/>
          </p:cNvSpPr>
          <p:nvPr/>
        </p:nvSpPr>
        <p:spPr>
          <a:xfrm>
            <a:off x="2190750" y="3361134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1.Warranty failure data and associated cost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5F1FB2E-DDA3-449C-9124-F56CC2C6A440}"/>
              </a:ext>
            </a:extLst>
          </p:cNvPr>
          <p:cNvSpPr>
            <a:spLocks noGrp="1"/>
          </p:cNvSpPr>
          <p:nvPr/>
        </p:nvSpPr>
        <p:spPr>
          <a:xfrm>
            <a:off x="10363200" y="3351609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64C343-50B9-4E9F-9208-ADB8B5510E3D}"/>
              </a:ext>
            </a:extLst>
          </p:cNvPr>
          <p:cNvSpPr>
            <a:spLocks noGrp="1"/>
          </p:cNvSpPr>
          <p:nvPr/>
        </p:nvSpPr>
        <p:spPr>
          <a:xfrm>
            <a:off x="10401300" y="3361134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238A4B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238A4B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053351F-BD1E-4754-AA12-0A68EA5A2919}"/>
              </a:ext>
            </a:extLst>
          </p:cNvPr>
          <p:cNvSpPr>
            <a:spLocks noGrp="1"/>
          </p:cNvSpPr>
          <p:nvPr/>
        </p:nvSpPr>
        <p:spPr>
          <a:xfrm>
            <a:off x="666750" y="3512344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6C6EBE-6848-4814-98E7-A119AF1FB319}"/>
              </a:ext>
            </a:extLst>
          </p:cNvPr>
          <p:cNvSpPr>
            <a:spLocks noGrp="1"/>
          </p:cNvSpPr>
          <p:nvPr/>
        </p:nvSpPr>
        <p:spPr>
          <a:xfrm>
            <a:off x="762000" y="3540919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4934E1-CD0E-4E8E-ACDF-DB3E6C726BCE}"/>
              </a:ext>
            </a:extLst>
          </p:cNvPr>
          <p:cNvSpPr>
            <a:spLocks noGrp="1"/>
          </p:cNvSpPr>
          <p:nvPr/>
        </p:nvSpPr>
        <p:spPr>
          <a:xfrm>
            <a:off x="1276350" y="3540919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3B3DE5-C1B2-484D-9EF3-D420761F4BF2}"/>
              </a:ext>
            </a:extLst>
          </p:cNvPr>
          <p:cNvSpPr>
            <a:spLocks noGrp="1"/>
          </p:cNvSpPr>
          <p:nvPr/>
        </p:nvSpPr>
        <p:spPr>
          <a:xfrm>
            <a:off x="2190750" y="3540919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2. Failed Samples of MVS Internal cables from Failure Lab analysis [BEST Location from Field returned part.]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EBDE10C-E159-4A76-A2DD-B7571FF6F4BC}"/>
              </a:ext>
            </a:extLst>
          </p:cNvPr>
          <p:cNvSpPr>
            <a:spLocks noGrp="1"/>
          </p:cNvSpPr>
          <p:nvPr/>
        </p:nvSpPr>
        <p:spPr>
          <a:xfrm>
            <a:off x="10363200" y="3531394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DE75CA7-117A-41D2-A22D-9D9CA4DCBFA3}"/>
              </a:ext>
            </a:extLst>
          </p:cNvPr>
          <p:cNvSpPr>
            <a:spLocks noGrp="1"/>
          </p:cNvSpPr>
          <p:nvPr/>
        </p:nvSpPr>
        <p:spPr>
          <a:xfrm>
            <a:off x="10401300" y="3540919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5CAFE9-9570-4253-ABCE-C785D870B6ED}"/>
              </a:ext>
            </a:extLst>
          </p:cNvPr>
          <p:cNvSpPr>
            <a:spLocks noGrp="1"/>
          </p:cNvSpPr>
          <p:nvPr/>
        </p:nvSpPr>
        <p:spPr>
          <a:xfrm>
            <a:off x="762000" y="3720703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3994953-BF73-4FF7-9A44-7115B57C39D7}"/>
              </a:ext>
            </a:extLst>
          </p:cNvPr>
          <p:cNvSpPr>
            <a:spLocks noGrp="1"/>
          </p:cNvSpPr>
          <p:nvPr/>
        </p:nvSpPr>
        <p:spPr>
          <a:xfrm>
            <a:off x="1276350" y="3720703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09F807B-18BE-446E-8B29-282C5A42FAA7}"/>
              </a:ext>
            </a:extLst>
          </p:cNvPr>
          <p:cNvSpPr>
            <a:spLocks noGrp="1"/>
          </p:cNvSpPr>
          <p:nvPr/>
        </p:nvSpPr>
        <p:spPr>
          <a:xfrm>
            <a:off x="2190750" y="3720703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3. Tracking of dismantled MVS-PCs at Field to be reached at Redisys (Supplier)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586C476-059A-490B-B894-AE386170F0AE}"/>
              </a:ext>
            </a:extLst>
          </p:cNvPr>
          <p:cNvSpPr>
            <a:spLocks noGrp="1"/>
          </p:cNvSpPr>
          <p:nvPr/>
        </p:nvSpPr>
        <p:spPr>
          <a:xfrm>
            <a:off x="10363200" y="3711178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C99663-9427-4234-A0A2-1334EF8296BE}"/>
              </a:ext>
            </a:extLst>
          </p:cNvPr>
          <p:cNvSpPr>
            <a:spLocks noGrp="1"/>
          </p:cNvSpPr>
          <p:nvPr/>
        </p:nvSpPr>
        <p:spPr>
          <a:xfrm>
            <a:off x="10401300" y="3720703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818C51-169F-45F5-B7E9-18B4B5567AA6}"/>
              </a:ext>
            </a:extLst>
          </p:cNvPr>
          <p:cNvSpPr>
            <a:spLocks noGrp="1"/>
          </p:cNvSpPr>
          <p:nvPr/>
        </p:nvSpPr>
        <p:spPr>
          <a:xfrm>
            <a:off x="666750" y="3871913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1E7320-70F0-408E-80F9-34BC05909B7B}"/>
              </a:ext>
            </a:extLst>
          </p:cNvPr>
          <p:cNvSpPr>
            <a:spLocks noGrp="1"/>
          </p:cNvSpPr>
          <p:nvPr/>
        </p:nvSpPr>
        <p:spPr>
          <a:xfrm>
            <a:off x="762000" y="3900488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A9A339-37D0-4016-93E7-6CB526691881}"/>
              </a:ext>
            </a:extLst>
          </p:cNvPr>
          <p:cNvSpPr>
            <a:spLocks noGrp="1"/>
          </p:cNvSpPr>
          <p:nvPr/>
        </p:nvSpPr>
        <p:spPr>
          <a:xfrm>
            <a:off x="1276350" y="3900488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8153E8D-7E22-4221-81EC-BCD40980F451}"/>
              </a:ext>
            </a:extLst>
          </p:cNvPr>
          <p:cNvSpPr>
            <a:spLocks noGrp="1"/>
          </p:cNvSpPr>
          <p:nvPr/>
        </p:nvSpPr>
        <p:spPr>
          <a:xfrm>
            <a:off x="2190750" y="3900488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Data collection for Non Part failure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A505C1D-4152-402E-9635-A8D7340BA37C}"/>
              </a:ext>
            </a:extLst>
          </p:cNvPr>
          <p:cNvSpPr>
            <a:spLocks noGrp="1"/>
          </p:cNvSpPr>
          <p:nvPr/>
        </p:nvSpPr>
        <p:spPr>
          <a:xfrm>
            <a:off x="10363200" y="3890963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8AA9109-BABF-4CEC-96CD-8A45A156266C}"/>
              </a:ext>
            </a:extLst>
          </p:cNvPr>
          <p:cNvSpPr>
            <a:spLocks noGrp="1"/>
          </p:cNvSpPr>
          <p:nvPr/>
        </p:nvSpPr>
        <p:spPr>
          <a:xfrm>
            <a:off x="10401300" y="3900488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E5B70BD-56AA-46E1-9F4D-B22368A5A0E2}"/>
              </a:ext>
            </a:extLst>
          </p:cNvPr>
          <p:cNvSpPr>
            <a:spLocks noGrp="1"/>
          </p:cNvSpPr>
          <p:nvPr/>
        </p:nvSpPr>
        <p:spPr>
          <a:xfrm>
            <a:off x="762000" y="4080272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36879B9-698C-4AB8-95BB-B7CBA48A8FF3}"/>
              </a:ext>
            </a:extLst>
          </p:cNvPr>
          <p:cNvSpPr>
            <a:spLocks noGrp="1"/>
          </p:cNvSpPr>
          <p:nvPr/>
        </p:nvSpPr>
        <p:spPr>
          <a:xfrm>
            <a:off x="1276350" y="4080272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44DE736-8CDC-42C9-9A76-1EA40E1FDEF0}"/>
              </a:ext>
            </a:extLst>
          </p:cNvPr>
          <p:cNvSpPr>
            <a:spLocks noGrp="1"/>
          </p:cNvSpPr>
          <p:nvPr/>
        </p:nvSpPr>
        <p:spPr>
          <a:xfrm>
            <a:off x="2190750" y="4080272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Dhruv: Clarity on usability claims for CS features (26WK33)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2347EB5-0068-4733-905C-91D15A935F35}"/>
              </a:ext>
            </a:extLst>
          </p:cNvPr>
          <p:cNvSpPr>
            <a:spLocks noGrp="1"/>
          </p:cNvSpPr>
          <p:nvPr/>
        </p:nvSpPr>
        <p:spPr>
          <a:xfrm>
            <a:off x="10363200" y="4070747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6910889-A0B3-46B4-B5A9-ED50A340CF73}"/>
              </a:ext>
            </a:extLst>
          </p:cNvPr>
          <p:cNvSpPr>
            <a:spLocks noGrp="1"/>
          </p:cNvSpPr>
          <p:nvPr/>
        </p:nvSpPr>
        <p:spPr>
          <a:xfrm>
            <a:off x="10401300" y="4080272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687746F-3F21-4BFB-B28D-116641B2D752}"/>
              </a:ext>
            </a:extLst>
          </p:cNvPr>
          <p:cNvSpPr>
            <a:spLocks noGrp="1"/>
          </p:cNvSpPr>
          <p:nvPr/>
        </p:nvSpPr>
        <p:spPr>
          <a:xfrm>
            <a:off x="666750" y="4231481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6CED3B-2878-4389-AACA-5FBAE0080C52}"/>
              </a:ext>
            </a:extLst>
          </p:cNvPr>
          <p:cNvSpPr>
            <a:spLocks noGrp="1"/>
          </p:cNvSpPr>
          <p:nvPr/>
        </p:nvSpPr>
        <p:spPr>
          <a:xfrm>
            <a:off x="762000" y="4260056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59A0AEF-1D5D-404D-AE12-1916FDB6F1C0}"/>
              </a:ext>
            </a:extLst>
          </p:cNvPr>
          <p:cNvSpPr>
            <a:spLocks noGrp="1"/>
          </p:cNvSpPr>
          <p:nvPr/>
        </p:nvSpPr>
        <p:spPr>
          <a:xfrm>
            <a:off x="1276350" y="4260056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89A8884-4A59-4E73-B38E-72AC1010D01A}"/>
              </a:ext>
            </a:extLst>
          </p:cNvPr>
          <p:cNvSpPr>
            <a:spLocks noGrp="1"/>
          </p:cNvSpPr>
          <p:nvPr/>
        </p:nvSpPr>
        <p:spPr>
          <a:xfrm>
            <a:off x="2190750" y="4260056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Dhruv: Clarity on CS feature claims list along with substantiation plan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588F527-FD26-4645-B3E0-F3F2108A8169}"/>
              </a:ext>
            </a:extLst>
          </p:cNvPr>
          <p:cNvSpPr>
            <a:spLocks noGrp="1"/>
          </p:cNvSpPr>
          <p:nvPr/>
        </p:nvSpPr>
        <p:spPr>
          <a:xfrm>
            <a:off x="10363200" y="4250531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4BD652-AD7A-4C7A-AA2F-7E9A8B96002C}"/>
              </a:ext>
            </a:extLst>
          </p:cNvPr>
          <p:cNvSpPr>
            <a:spLocks noGrp="1"/>
          </p:cNvSpPr>
          <p:nvPr/>
        </p:nvSpPr>
        <p:spPr>
          <a:xfrm>
            <a:off x="10401300" y="4260056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386343-0E24-4A12-8355-4E80B55D22CE}"/>
              </a:ext>
            </a:extLst>
          </p:cNvPr>
          <p:cNvSpPr>
            <a:spLocks noGrp="1"/>
          </p:cNvSpPr>
          <p:nvPr/>
        </p:nvSpPr>
        <p:spPr>
          <a:xfrm>
            <a:off x="762000" y="4439841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F968396-1870-4F41-842C-BF8B32C17D01}"/>
              </a:ext>
            </a:extLst>
          </p:cNvPr>
          <p:cNvSpPr>
            <a:spLocks noGrp="1"/>
          </p:cNvSpPr>
          <p:nvPr/>
        </p:nvSpPr>
        <p:spPr>
          <a:xfrm>
            <a:off x="1276350" y="4439841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A188E4A-C8AB-48E1-87D6-175DEBB257B1}"/>
              </a:ext>
            </a:extLst>
          </p:cNvPr>
          <p:cNvSpPr>
            <a:spLocks noGrp="1"/>
          </p:cNvSpPr>
          <p:nvPr/>
        </p:nvSpPr>
        <p:spPr>
          <a:xfrm>
            <a:off x="2190750" y="4439841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Dhruv: CS training plan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16CA6D6-C8D4-4E2C-AD5D-D4D5F500C42E}"/>
              </a:ext>
            </a:extLst>
          </p:cNvPr>
          <p:cNvSpPr>
            <a:spLocks noGrp="1"/>
          </p:cNvSpPr>
          <p:nvPr/>
        </p:nvSpPr>
        <p:spPr>
          <a:xfrm>
            <a:off x="10363200" y="4430316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988B740-A968-4B75-BF9A-65ACBE46554E}"/>
              </a:ext>
            </a:extLst>
          </p:cNvPr>
          <p:cNvSpPr>
            <a:spLocks noGrp="1"/>
          </p:cNvSpPr>
          <p:nvPr/>
        </p:nvSpPr>
        <p:spPr>
          <a:xfrm>
            <a:off x="10401300" y="4439841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AA87AB0-7365-46A0-AAE2-26B0122AC164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D973F15-3CA9-4233-B51D-FA320615BBAF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7D997D7-5587-46F6-85B5-A313939B7DC7}"/>
              </a:ext>
            </a:extLst>
          </p:cNvPr>
          <p:cNvSpPr>
            <a:spLocks noGrp="1"/>
          </p:cNvSpPr>
          <p:nvPr/>
        </p:nvSpPr>
        <p:spPr>
          <a:xfrm>
            <a:off x="1276350" y="4619625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FD0A368-001B-4C65-A4AC-2DA51A7038D9}"/>
              </a:ext>
            </a:extLst>
          </p:cNvPr>
          <p:cNvSpPr>
            <a:spLocks noGrp="1"/>
          </p:cNvSpPr>
          <p:nvPr/>
        </p:nvSpPr>
        <p:spPr>
          <a:xfrm>
            <a:off x="2190750" y="4619625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Dhruv: CS content for Kick-off sales training (Q4)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D314A24-779C-4211-A9A1-2C69B348D230}"/>
              </a:ext>
            </a:extLst>
          </p:cNvPr>
          <p:cNvSpPr>
            <a:spLocks noGrp="1"/>
          </p:cNvSpPr>
          <p:nvPr/>
        </p:nvSpPr>
        <p:spPr>
          <a:xfrm>
            <a:off x="10363200" y="4610100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8E314B4-8266-4245-820D-2F9792A6B798}"/>
              </a:ext>
            </a:extLst>
          </p:cNvPr>
          <p:cNvSpPr>
            <a:spLocks noGrp="1"/>
          </p:cNvSpPr>
          <p:nvPr/>
        </p:nvSpPr>
        <p:spPr>
          <a:xfrm>
            <a:off x="10401300" y="4619625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2DE480C-4F1E-439C-8B41-AB7D1687F904}"/>
              </a:ext>
            </a:extLst>
          </p:cNvPr>
          <p:cNvSpPr>
            <a:spLocks noGrp="1"/>
          </p:cNvSpPr>
          <p:nvPr/>
        </p:nvSpPr>
        <p:spPr>
          <a:xfrm>
            <a:off x="762000" y="4799409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E862458-76B9-4BA6-97F3-E554DC86B323}"/>
              </a:ext>
            </a:extLst>
          </p:cNvPr>
          <p:cNvSpPr>
            <a:spLocks noGrp="1"/>
          </p:cNvSpPr>
          <p:nvPr/>
        </p:nvSpPr>
        <p:spPr>
          <a:xfrm>
            <a:off x="1276350" y="4799409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NAR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17787E4-D36F-4E9E-AA7E-8524B25F5D04}"/>
              </a:ext>
            </a:extLst>
          </p:cNvPr>
          <p:cNvSpPr>
            <a:spLocks noGrp="1"/>
          </p:cNvSpPr>
          <p:nvPr/>
        </p:nvSpPr>
        <p:spPr>
          <a:xfrm>
            <a:off x="2190750" y="4799409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Sales: drive adoption of FS- Ready configurations via meeting 0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DCA3E9A-9F34-4488-B6FC-114AAD0E565F}"/>
              </a:ext>
            </a:extLst>
          </p:cNvPr>
          <p:cNvSpPr>
            <a:spLocks noGrp="1"/>
          </p:cNvSpPr>
          <p:nvPr/>
        </p:nvSpPr>
        <p:spPr>
          <a:xfrm>
            <a:off x="10363200" y="4789884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6F0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B2F0FD9-9EBB-446F-AA06-2A0AC391288E}"/>
              </a:ext>
            </a:extLst>
          </p:cNvPr>
          <p:cNvSpPr>
            <a:spLocks noGrp="1"/>
          </p:cNvSpPr>
          <p:nvPr/>
        </p:nvSpPr>
        <p:spPr>
          <a:xfrm>
            <a:off x="10401300" y="4799409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421AA0A-258D-48D8-853F-50B43F6A1577}"/>
              </a:ext>
            </a:extLst>
          </p:cNvPr>
          <p:cNvSpPr>
            <a:spLocks noGrp="1"/>
          </p:cNvSpPr>
          <p:nvPr/>
        </p:nvSpPr>
        <p:spPr>
          <a:xfrm>
            <a:off x="666750" y="4950619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C39962B-72C5-46A3-93FF-414DA56D62EA}"/>
              </a:ext>
            </a:extLst>
          </p:cNvPr>
          <p:cNvSpPr>
            <a:spLocks noGrp="1"/>
          </p:cNvSpPr>
          <p:nvPr/>
        </p:nvSpPr>
        <p:spPr>
          <a:xfrm>
            <a:off x="762000" y="4979194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FB2956F-1379-49B4-913E-6CA9631604C1}"/>
              </a:ext>
            </a:extLst>
          </p:cNvPr>
          <p:cNvSpPr>
            <a:spLocks noGrp="1"/>
          </p:cNvSpPr>
          <p:nvPr/>
        </p:nvSpPr>
        <p:spPr>
          <a:xfrm>
            <a:off x="1276350" y="4979194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68D3A7F-AB0F-4AC2-9662-F60C1D4E2882}"/>
              </a:ext>
            </a:extLst>
          </p:cNvPr>
          <p:cNvSpPr>
            <a:spLocks noGrp="1"/>
          </p:cNvSpPr>
          <p:nvPr/>
        </p:nvSpPr>
        <p:spPr>
          <a:xfrm>
            <a:off x="2190750" y="4979194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HOS pricing handshake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CCEA1FC3-C99C-4718-BCD1-F3B423CE6268}"/>
              </a:ext>
            </a:extLst>
          </p:cNvPr>
          <p:cNvSpPr>
            <a:spLocks noGrp="1"/>
          </p:cNvSpPr>
          <p:nvPr/>
        </p:nvSpPr>
        <p:spPr>
          <a:xfrm>
            <a:off x="10363200" y="4969669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0BEA15C-09CA-45F0-B31D-D36C5FE2B276}"/>
              </a:ext>
            </a:extLst>
          </p:cNvPr>
          <p:cNvSpPr>
            <a:spLocks noGrp="1"/>
          </p:cNvSpPr>
          <p:nvPr/>
        </p:nvSpPr>
        <p:spPr>
          <a:xfrm>
            <a:off x="10401300" y="4979194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238A4B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238A4B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19E7193-548F-4FFF-8FE7-0AA30BAB500F}"/>
              </a:ext>
            </a:extLst>
          </p:cNvPr>
          <p:cNvSpPr>
            <a:spLocks noGrp="1"/>
          </p:cNvSpPr>
          <p:nvPr/>
        </p:nvSpPr>
        <p:spPr>
          <a:xfrm>
            <a:off x="762000" y="5158978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B9D8CAB-1CBC-4C92-B225-8FD93D978F3F}"/>
              </a:ext>
            </a:extLst>
          </p:cNvPr>
          <p:cNvSpPr>
            <a:spLocks noGrp="1"/>
          </p:cNvSpPr>
          <p:nvPr/>
        </p:nvSpPr>
        <p:spPr>
          <a:xfrm>
            <a:off x="1276350" y="5158978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3FED7C2-7927-4A38-B2E1-15A078F58E22}"/>
              </a:ext>
            </a:extLst>
          </p:cNvPr>
          <p:cNvSpPr>
            <a:spLocks noGrp="1"/>
          </p:cNvSpPr>
          <p:nvPr/>
        </p:nvSpPr>
        <p:spPr>
          <a:xfrm>
            <a:off x="2190750" y="5158978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Tech Max 2026 Roadmap definition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640D7E62-E8BB-4866-9B55-07619769A1DB}"/>
              </a:ext>
            </a:extLst>
          </p:cNvPr>
          <p:cNvSpPr>
            <a:spLocks noGrp="1"/>
          </p:cNvSpPr>
          <p:nvPr/>
        </p:nvSpPr>
        <p:spPr>
          <a:xfrm>
            <a:off x="10363200" y="5149453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F83E696-850A-41F4-A545-CFD5C2C11AA5}"/>
              </a:ext>
            </a:extLst>
          </p:cNvPr>
          <p:cNvSpPr>
            <a:spLocks noGrp="1"/>
          </p:cNvSpPr>
          <p:nvPr/>
        </p:nvSpPr>
        <p:spPr>
          <a:xfrm>
            <a:off x="10401300" y="5158978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238A4B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238A4B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3D6164-96CC-44CB-BBC9-0A935196B81A}"/>
              </a:ext>
            </a:extLst>
          </p:cNvPr>
          <p:cNvSpPr>
            <a:spLocks noGrp="1"/>
          </p:cNvSpPr>
          <p:nvPr/>
        </p:nvSpPr>
        <p:spPr>
          <a:xfrm>
            <a:off x="666750" y="5310188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4601925-6F29-4B71-B6E3-4E5D06D3498B}"/>
              </a:ext>
            </a:extLst>
          </p:cNvPr>
          <p:cNvSpPr>
            <a:spLocks noGrp="1"/>
          </p:cNvSpPr>
          <p:nvPr/>
        </p:nvSpPr>
        <p:spPr>
          <a:xfrm>
            <a:off x="762000" y="5338763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D6318D2-E915-4798-B787-CB8DD111BA15}"/>
              </a:ext>
            </a:extLst>
          </p:cNvPr>
          <p:cNvSpPr>
            <a:spLocks noGrp="1"/>
          </p:cNvSpPr>
          <p:nvPr/>
        </p:nvSpPr>
        <p:spPr>
          <a:xfrm>
            <a:off x="1276350" y="5338763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6CAF945-1696-4749-835D-068C96272536}"/>
              </a:ext>
            </a:extLst>
          </p:cNvPr>
          <p:cNvSpPr>
            <a:spLocks noGrp="1"/>
          </p:cNvSpPr>
          <p:nvPr/>
        </p:nvSpPr>
        <p:spPr>
          <a:xfrm>
            <a:off x="2190750" y="5338763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Dhruv: CS Training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A77CE17-0120-4FFE-A71D-C1671C96E83F}"/>
              </a:ext>
            </a:extLst>
          </p:cNvPr>
          <p:cNvSpPr>
            <a:spLocks noGrp="1"/>
          </p:cNvSpPr>
          <p:nvPr/>
        </p:nvSpPr>
        <p:spPr>
          <a:xfrm>
            <a:off x="10363200" y="5329238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157245B-23B0-45E5-B213-2C9FB8EC0D9E}"/>
              </a:ext>
            </a:extLst>
          </p:cNvPr>
          <p:cNvSpPr>
            <a:spLocks noGrp="1"/>
          </p:cNvSpPr>
          <p:nvPr/>
        </p:nvSpPr>
        <p:spPr>
          <a:xfrm>
            <a:off x="10401300" y="5338763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E12F491-4885-4DB0-A87B-9142F24E1225}"/>
              </a:ext>
            </a:extLst>
          </p:cNvPr>
          <p:cNvSpPr>
            <a:spLocks noGrp="1"/>
          </p:cNvSpPr>
          <p:nvPr/>
        </p:nvSpPr>
        <p:spPr>
          <a:xfrm>
            <a:off x="762000" y="5518547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AE23949-14EE-4067-93CD-2718E20DCD5D}"/>
              </a:ext>
            </a:extLst>
          </p:cNvPr>
          <p:cNvSpPr>
            <a:spLocks noGrp="1"/>
          </p:cNvSpPr>
          <p:nvPr/>
        </p:nvSpPr>
        <p:spPr>
          <a:xfrm>
            <a:off x="1276350" y="5518547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97F2577-E415-4A4A-A6FA-71B962E981AD}"/>
              </a:ext>
            </a:extLst>
          </p:cNvPr>
          <p:cNvSpPr>
            <a:spLocks noGrp="1"/>
          </p:cNvSpPr>
          <p:nvPr/>
        </p:nvSpPr>
        <p:spPr>
          <a:xfrm>
            <a:off x="2190750" y="5518547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Dhruv: CS online course code creation(Q1)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28E219C-4471-44DE-8C29-447ECC4F956F}"/>
              </a:ext>
            </a:extLst>
          </p:cNvPr>
          <p:cNvSpPr>
            <a:spLocks noGrp="1"/>
          </p:cNvSpPr>
          <p:nvPr/>
        </p:nvSpPr>
        <p:spPr>
          <a:xfrm>
            <a:off x="10363200" y="5509022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233AC0B-23F6-451A-9AFB-33E706346E5F}"/>
              </a:ext>
            </a:extLst>
          </p:cNvPr>
          <p:cNvSpPr>
            <a:spLocks noGrp="1"/>
          </p:cNvSpPr>
          <p:nvPr/>
        </p:nvSpPr>
        <p:spPr>
          <a:xfrm>
            <a:off x="10401300" y="5518547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DCF1C81-6A20-4408-8A23-87AE78E89C4A}"/>
              </a:ext>
            </a:extLst>
          </p:cNvPr>
          <p:cNvSpPr>
            <a:spLocks noGrp="1"/>
          </p:cNvSpPr>
          <p:nvPr/>
        </p:nvSpPr>
        <p:spPr>
          <a:xfrm>
            <a:off x="666750" y="5669756"/>
            <a:ext cx="10610850" cy="179784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2D02FDF-93DD-4105-9A42-03E37BF703D6}"/>
              </a:ext>
            </a:extLst>
          </p:cNvPr>
          <p:cNvSpPr>
            <a:spLocks noGrp="1"/>
          </p:cNvSpPr>
          <p:nvPr/>
        </p:nvSpPr>
        <p:spPr>
          <a:xfrm>
            <a:off x="762000" y="5698331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8814751-31C9-4A13-80A6-16E55383F161}"/>
              </a:ext>
            </a:extLst>
          </p:cNvPr>
          <p:cNvSpPr>
            <a:spLocks noGrp="1"/>
          </p:cNvSpPr>
          <p:nvPr/>
        </p:nvSpPr>
        <p:spPr>
          <a:xfrm>
            <a:off x="1276350" y="5698331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21563B0-640A-47EC-AFE7-F4A563860CBD}"/>
              </a:ext>
            </a:extLst>
          </p:cNvPr>
          <p:cNvSpPr>
            <a:spLocks noGrp="1"/>
          </p:cNvSpPr>
          <p:nvPr/>
        </p:nvSpPr>
        <p:spPr>
          <a:xfrm>
            <a:off x="2190750" y="5698331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Tech Max 2027 Roadmap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23559F3C-3802-4351-B5B2-9B37EEE05B0A}"/>
              </a:ext>
            </a:extLst>
          </p:cNvPr>
          <p:cNvSpPr>
            <a:spLocks noGrp="1"/>
          </p:cNvSpPr>
          <p:nvPr/>
        </p:nvSpPr>
        <p:spPr>
          <a:xfrm>
            <a:off x="10363200" y="5688806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2D754A4-3E8E-4C68-9805-EB5670459213}"/>
              </a:ext>
            </a:extLst>
          </p:cNvPr>
          <p:cNvSpPr>
            <a:spLocks noGrp="1"/>
          </p:cNvSpPr>
          <p:nvPr/>
        </p:nvSpPr>
        <p:spPr>
          <a:xfrm>
            <a:off x="10401300" y="5698331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C46C5E3-3D08-4FD5-B582-6899C7B3CD61}"/>
              </a:ext>
            </a:extLst>
          </p:cNvPr>
          <p:cNvSpPr>
            <a:spLocks noGrp="1"/>
          </p:cNvSpPr>
          <p:nvPr/>
        </p:nvSpPr>
        <p:spPr>
          <a:xfrm>
            <a:off x="762000" y="5878116"/>
            <a:ext cx="41910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7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E39DFD0-7109-4F09-AE92-7ECFE6FCDBA4}"/>
              </a:ext>
            </a:extLst>
          </p:cNvPr>
          <p:cNvSpPr>
            <a:spLocks noGrp="1"/>
          </p:cNvSpPr>
          <p:nvPr/>
        </p:nvSpPr>
        <p:spPr>
          <a:xfrm>
            <a:off x="1276350" y="5878116"/>
            <a:ext cx="781050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61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Europe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5152684-6399-44C8-B9F8-3F6DA0005675}"/>
              </a:ext>
            </a:extLst>
          </p:cNvPr>
          <p:cNvSpPr>
            <a:spLocks noGrp="1"/>
          </p:cNvSpPr>
          <p:nvPr/>
        </p:nvSpPr>
        <p:spPr>
          <a:xfrm>
            <a:off x="2190750" y="5878116"/>
            <a:ext cx="7915275" cy="132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1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EW/TM Core Block proposition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50914A2-20EA-4D1D-94C2-BA9F765DCA05}"/>
              </a:ext>
            </a:extLst>
          </p:cNvPr>
          <p:cNvSpPr>
            <a:spLocks noGrp="1"/>
          </p:cNvSpPr>
          <p:nvPr/>
        </p:nvSpPr>
        <p:spPr>
          <a:xfrm>
            <a:off x="10363200" y="5868591"/>
            <a:ext cx="819150" cy="152400"/>
          </a:xfrm>
          <a:prstGeom prst="roundRect">
            <a:avLst>
              <a:gd name="adj" fmla="val 50000"/>
            </a:avLst>
          </a:prstGeom>
          <a:solidFill>
            <a:srgbClr val="EDF0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9842AFE-54A6-470D-A6BC-538F66B6C67E}"/>
              </a:ext>
            </a:extLst>
          </p:cNvPr>
          <p:cNvSpPr>
            <a:spLocks noGrp="1"/>
          </p:cNvSpPr>
          <p:nvPr/>
        </p:nvSpPr>
        <p:spPr>
          <a:xfrm>
            <a:off x="10401300" y="5878116"/>
            <a:ext cx="742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63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A7DFCBE-7BED-40E9-B74C-24BCC7ADB6BB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A185A2C-CD4A-4F83-B276-4316E605A6D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828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7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Source: CS VCP(1).xlsx, Service Transformation, Interdependencies across all function rows 173-199.</a:t>
            </a:r>
          </a:p>
        </p:txBody>
      </p:sp>
    </p:spTree>
    <p:extLst>
      <p:ext uri="{BB962C8B-B14F-4D97-AF65-F5344CB8AC3E}">
        <p14:creationId xmlns:p14="http://schemas.microsoft.com/office/powerpoint/2010/main" val="63864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7078927E-E4E6-4C56-90D5-16158C8F21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03B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481DA-5DBB-44CA-8288-F901634EF12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VCP IMPACT LINKAGE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E8C734-72E8-4C1E-AEEA-1EF7B7B73E95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How service KPIs translate into VCP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76B74-2597-45A7-83BB-97222F5AC291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The workbook quantifies Sales and Adjusted EBITA trajectories; Market Share remains a directional impact without a stated target.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C8B60-9685-412A-B892-2D0DAD0129A3}"/>
              </a:ext>
            </a:extLst>
          </p:cNvPr>
          <p:cNvSpPr>
            <a:spLocks noGrp="1"/>
          </p:cNvSpPr>
          <p:nvPr/>
        </p:nvSpPr>
        <p:spPr>
          <a:xfrm>
            <a:off x="9572625" y="28575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Monthly VCP report | 5/6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2EEFD2-343C-434F-9E29-358401F49C2D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3333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C23746-C958-4D0F-B4EA-DDCB912945D9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57150" cy="800100"/>
          </a:xfrm>
          <a:prstGeom prst="rect">
            <a:avLst/>
          </a:prstGeom>
          <a:solidFill>
            <a:srgbClr val="1769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87E8B-4B23-4983-9187-25B1CF9D917C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€96M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AE01B-3808-4B86-B4D0-ECAFDC5E7743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2028 VCP Sales trajectory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60299-0CBD-4BEE-9B92-F6E0B04453E6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990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From €77.4M in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98833C-A0D3-481F-9C20-820CAA34A134}"/>
              </a:ext>
            </a:extLst>
          </p:cNvPr>
          <p:cNvSpPr>
            <a:spLocks noGrp="1"/>
          </p:cNvSpPr>
          <p:nvPr/>
        </p:nvSpPr>
        <p:spPr>
          <a:xfrm>
            <a:off x="4038600" y="1504950"/>
            <a:ext cx="3333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025F14-DA5E-4517-A724-0495D71D778C}"/>
              </a:ext>
            </a:extLst>
          </p:cNvPr>
          <p:cNvSpPr>
            <a:spLocks noGrp="1"/>
          </p:cNvSpPr>
          <p:nvPr/>
        </p:nvSpPr>
        <p:spPr>
          <a:xfrm>
            <a:off x="4038600" y="1504950"/>
            <a:ext cx="57150" cy="800100"/>
          </a:xfrm>
          <a:prstGeom prst="rect">
            <a:avLst/>
          </a:prstGeom>
          <a:solidFill>
            <a:srgbClr val="188B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CF92BF-AE43-4D6A-942F-0A89664F67C1}"/>
              </a:ext>
            </a:extLst>
          </p:cNvPr>
          <p:cNvSpPr>
            <a:spLocks noGrp="1"/>
          </p:cNvSpPr>
          <p:nvPr/>
        </p:nvSpPr>
        <p:spPr>
          <a:xfrm>
            <a:off x="4210050" y="1619250"/>
            <a:ext cx="2990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88B8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8B84"/>
                </a:solidFill>
                <a:latin typeface="Arial"/>
                <a:ea typeface="Arial"/>
                <a:cs typeface="Arial"/>
              </a:rPr>
              <a:t>€43.2M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9BF012-36B8-4FEB-9F3A-E01250C9ED06}"/>
              </a:ext>
            </a:extLst>
          </p:cNvPr>
          <p:cNvSpPr>
            <a:spLocks noGrp="1"/>
          </p:cNvSpPr>
          <p:nvPr/>
        </p:nvSpPr>
        <p:spPr>
          <a:xfrm>
            <a:off x="4210050" y="1933575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2028 Adjusted EBITA trajectory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AF4111-2909-4B0B-9EB9-CB6FC0ACC773}"/>
              </a:ext>
            </a:extLst>
          </p:cNvPr>
          <p:cNvSpPr>
            <a:spLocks noGrp="1"/>
          </p:cNvSpPr>
          <p:nvPr/>
        </p:nvSpPr>
        <p:spPr>
          <a:xfrm>
            <a:off x="4210050" y="2133600"/>
            <a:ext cx="2990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From €30.6M in 2026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81C3972-8C51-4E92-8AC3-71FA37A190FE}"/>
              </a:ext>
            </a:extLst>
          </p:cNvPr>
          <p:cNvSpPr>
            <a:spLocks noGrp="1"/>
          </p:cNvSpPr>
          <p:nvPr/>
        </p:nvSpPr>
        <p:spPr>
          <a:xfrm>
            <a:off x="7562850" y="1504950"/>
            <a:ext cx="38671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536951-041C-4260-9220-A3A6CCD411C6}"/>
              </a:ext>
            </a:extLst>
          </p:cNvPr>
          <p:cNvSpPr>
            <a:spLocks noGrp="1"/>
          </p:cNvSpPr>
          <p:nvPr/>
        </p:nvSpPr>
        <p:spPr>
          <a:xfrm>
            <a:off x="7562850" y="1504950"/>
            <a:ext cx="57150" cy="800100"/>
          </a:xfrm>
          <a:prstGeom prst="rect">
            <a:avLst/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08BF8-4642-441A-B162-FF738529D626}"/>
              </a:ext>
            </a:extLst>
          </p:cNvPr>
          <p:cNvSpPr>
            <a:spLocks noGrp="1"/>
          </p:cNvSpPr>
          <p:nvPr/>
        </p:nvSpPr>
        <p:spPr>
          <a:xfrm>
            <a:off x="7734300" y="161925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Not quantified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CF0750-34C2-44BB-8FC3-002B6446133E}"/>
              </a:ext>
            </a:extLst>
          </p:cNvPr>
          <p:cNvSpPr>
            <a:spLocks noGrp="1"/>
          </p:cNvSpPr>
          <p:nvPr/>
        </p:nvSpPr>
        <p:spPr>
          <a:xfrm>
            <a:off x="7734300" y="1933575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Market Share target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80EEB9-BCA2-44DD-8C58-2C04A1DA374B}"/>
              </a:ext>
            </a:extLst>
          </p:cNvPr>
          <p:cNvSpPr>
            <a:spLocks noGrp="1"/>
          </p:cNvSpPr>
          <p:nvPr/>
        </p:nvSpPr>
        <p:spPr>
          <a:xfrm>
            <a:off x="7734300" y="2133600"/>
            <a:ext cx="3524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Impact path is referenced through GTM, portfolio and contract growth themes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E48E67-658C-46A5-9613-0088AD9B2FFD}"/>
              </a:ext>
            </a:extLst>
          </p:cNvPr>
          <p:cNvSpPr>
            <a:spLocks noGrp="1"/>
          </p:cNvSpPr>
          <p:nvPr/>
        </p:nvSpPr>
        <p:spPr>
          <a:xfrm>
            <a:off x="514350" y="2552700"/>
            <a:ext cx="7239000" cy="358140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C67DA7-51F5-44C1-AF0C-DB4367856AA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689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Impact driver map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BB83C3-6CB1-4A9A-B310-F1A150C3223C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110566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60" b="1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GROWTH ENGINE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B5EB34-D338-4EB6-9A83-ABBEA40AF6D7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2133600" cy="609600"/>
          </a:xfrm>
          <a:prstGeom prst="roundRect">
            <a:avLst>
              <a:gd name="adj" fmla="val 10938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3AA8E9-FB5A-43C2-AF81-CA0C2EB1F858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Enabling KPIs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C04AF1-863F-4D75-BC42-64D57CD46E2A}"/>
              </a:ext>
            </a:extLst>
          </p:cNvPr>
          <p:cNvSpPr>
            <a:spLocks noGrp="1"/>
          </p:cNvSpPr>
          <p:nvPr/>
        </p:nvSpPr>
        <p:spPr>
          <a:xfrm>
            <a:off x="819150" y="34004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Contract Pen. 99% attainment; CLV Revenue 50%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F5C74D2D-A483-4B20-B87F-5443D8FE8B77}"/>
              </a:ext>
            </a:extLst>
          </p:cNvPr>
          <p:cNvSpPr>
            <a:spLocks noGrp="1"/>
          </p:cNvSpPr>
          <p:nvPr/>
        </p:nvSpPr>
        <p:spPr>
          <a:xfrm>
            <a:off x="2971800" y="3286125"/>
            <a:ext cx="266700" cy="247650"/>
          </a:xfrm>
          <a:prstGeom prst="chevron">
            <a:avLst/>
          </a:prstGeom>
          <a:solidFill>
            <a:srgbClr val="C8D4E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F5BA307-8898-4285-9AC4-8EDC05506237}"/>
              </a:ext>
            </a:extLst>
          </p:cNvPr>
          <p:cNvSpPr>
            <a:spLocks noGrp="1"/>
          </p:cNvSpPr>
          <p:nvPr/>
        </p:nvSpPr>
        <p:spPr>
          <a:xfrm>
            <a:off x="3371850" y="3105150"/>
            <a:ext cx="1714500" cy="609600"/>
          </a:xfrm>
          <a:prstGeom prst="roundRect">
            <a:avLst>
              <a:gd name="adj" fmla="val 10938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EC1400-5308-4C2C-8A32-B833FEB09AD6}"/>
              </a:ext>
            </a:extLst>
          </p:cNvPr>
          <p:cNvSpPr>
            <a:spLocks noGrp="1"/>
          </p:cNvSpPr>
          <p:nvPr/>
        </p:nvSpPr>
        <p:spPr>
          <a:xfrm>
            <a:off x="3486150" y="32004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Service Revenue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89EB56-8A16-421F-AD6C-9D4CE3A3690F}"/>
              </a:ext>
            </a:extLst>
          </p:cNvPr>
          <p:cNvSpPr>
            <a:spLocks noGrp="1"/>
          </p:cNvSpPr>
          <p:nvPr/>
        </p:nvSpPr>
        <p:spPr>
          <a:xfrm>
            <a:off x="3486150" y="3400425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98% of Q2 target; gap €0.30M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825E1F69-9927-43E8-82A8-ACCC8F851845}"/>
              </a:ext>
            </a:extLst>
          </p:cNvPr>
          <p:cNvSpPr>
            <a:spLocks noGrp="1"/>
          </p:cNvSpPr>
          <p:nvPr/>
        </p:nvSpPr>
        <p:spPr>
          <a:xfrm>
            <a:off x="5219700" y="3286125"/>
            <a:ext cx="266700" cy="247650"/>
          </a:xfrm>
          <a:prstGeom prst="chevron">
            <a:avLst/>
          </a:prstGeom>
          <a:solidFill>
            <a:srgbClr val="C8D4E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F7EB682-FF0C-4AC4-968A-D2230F31F78F}"/>
              </a:ext>
            </a:extLst>
          </p:cNvPr>
          <p:cNvSpPr>
            <a:spLocks noGrp="1"/>
          </p:cNvSpPr>
          <p:nvPr/>
        </p:nvSpPr>
        <p:spPr>
          <a:xfrm>
            <a:off x="5619750" y="3105150"/>
            <a:ext cx="1885950" cy="609600"/>
          </a:xfrm>
          <a:prstGeom prst="roundRect">
            <a:avLst>
              <a:gd name="adj" fmla="val 10938"/>
            </a:avLst>
          </a:prstGeom>
          <a:solidFill>
            <a:srgbClr val="E6F0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401962-5C85-4D4A-9784-FBAFB3F064BC}"/>
              </a:ext>
            </a:extLst>
          </p:cNvPr>
          <p:cNvSpPr>
            <a:spLocks noGrp="1"/>
          </p:cNvSpPr>
          <p:nvPr/>
        </p:nvSpPr>
        <p:spPr>
          <a:xfrm>
            <a:off x="5734050" y="3200400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03B66"/>
                </a:solidFill>
                <a:latin typeface="Arial"/>
                <a:ea typeface="Arial"/>
                <a:cs typeface="Arial"/>
              </a:rPr>
              <a:t>VCP Sales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1AF57E-343A-45B8-9155-B5B8BD64D88A}"/>
              </a:ext>
            </a:extLst>
          </p:cNvPr>
          <p:cNvSpPr>
            <a:spLocks noGrp="1"/>
          </p:cNvSpPr>
          <p:nvPr/>
        </p:nvSpPr>
        <p:spPr>
          <a:xfrm>
            <a:off x="5734050" y="3400425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€77.4M in 2026 to €96M in 2028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B1871C-4ACC-4A21-8EBD-F406C798DBF2}"/>
              </a:ext>
            </a:extLst>
          </p:cNvPr>
          <p:cNvSpPr>
            <a:spLocks noGrp="1"/>
          </p:cNvSpPr>
          <p:nvPr/>
        </p:nvSpPr>
        <p:spPr>
          <a:xfrm>
            <a:off x="704850" y="3924300"/>
            <a:ext cx="1041654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60" b="1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MARGIN ENGINE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F3DF596-1A1C-48AB-83D1-29DE304ED37B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2133600" cy="609600"/>
          </a:xfrm>
          <a:prstGeom prst="roundRect">
            <a:avLst>
              <a:gd name="adj" fmla="val 10938"/>
            </a:avLst>
          </a:prstGeom>
          <a:solidFill>
            <a:srgbClr val="E1F3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2B359C-68E2-400D-B4C5-F7CA833E8892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Operating levers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62F46A-AB56-4BA2-BD33-1BC4BEC9EF2D}"/>
              </a:ext>
            </a:extLst>
          </p:cNvPr>
          <p:cNvSpPr>
            <a:spLocks noGrp="1"/>
          </p:cNvSpPr>
          <p:nvPr/>
        </p:nvSpPr>
        <p:spPr>
          <a:xfrm>
            <a:off x="819150" y="43910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Remote Resolution at target; pricing/productivity data incomplete</a:t>
            </a: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041F274B-23CA-44EF-AF45-D9490B8C7976}"/>
              </a:ext>
            </a:extLst>
          </p:cNvPr>
          <p:cNvSpPr>
            <a:spLocks noGrp="1"/>
          </p:cNvSpPr>
          <p:nvPr/>
        </p:nvSpPr>
        <p:spPr>
          <a:xfrm>
            <a:off x="2971800" y="4276725"/>
            <a:ext cx="266700" cy="247650"/>
          </a:xfrm>
          <a:prstGeom prst="chevron">
            <a:avLst/>
          </a:prstGeom>
          <a:solidFill>
            <a:srgbClr val="C8D4E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DDC9174-AEC3-44E2-A95E-DCAD6A76C9BA}"/>
              </a:ext>
            </a:extLst>
          </p:cNvPr>
          <p:cNvSpPr>
            <a:spLocks noGrp="1"/>
          </p:cNvSpPr>
          <p:nvPr/>
        </p:nvSpPr>
        <p:spPr>
          <a:xfrm>
            <a:off x="3371850" y="4095750"/>
            <a:ext cx="1714500" cy="609600"/>
          </a:xfrm>
          <a:prstGeom prst="roundRect">
            <a:avLst>
              <a:gd name="adj" fmla="val 10938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4F5E6B-7414-45CC-A8BA-CEEC2118F141}"/>
              </a:ext>
            </a:extLst>
          </p:cNvPr>
          <p:cNvSpPr>
            <a:spLocks noGrp="1"/>
          </p:cNvSpPr>
          <p:nvPr/>
        </p:nvSpPr>
        <p:spPr>
          <a:xfrm>
            <a:off x="3486150" y="41910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Service iGM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C5248C-526F-42AE-A3F7-8760A0C3A41C}"/>
              </a:ext>
            </a:extLst>
          </p:cNvPr>
          <p:cNvSpPr>
            <a:spLocks noGrp="1"/>
          </p:cNvSpPr>
          <p:nvPr/>
        </p:nvSpPr>
        <p:spPr>
          <a:xfrm>
            <a:off x="3486150" y="4391025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97% of Q2 target; gap 1.6 pts</a:t>
            </a: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C50E00F5-59DC-49A5-B586-C9773B027B58}"/>
              </a:ext>
            </a:extLst>
          </p:cNvPr>
          <p:cNvSpPr>
            <a:spLocks noGrp="1"/>
          </p:cNvSpPr>
          <p:nvPr/>
        </p:nvSpPr>
        <p:spPr>
          <a:xfrm>
            <a:off x="5219700" y="4276725"/>
            <a:ext cx="266700" cy="247650"/>
          </a:xfrm>
          <a:prstGeom prst="chevron">
            <a:avLst/>
          </a:prstGeom>
          <a:solidFill>
            <a:srgbClr val="C8D4E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6343BA5-06AA-450D-B439-D1D3164C15E9}"/>
              </a:ext>
            </a:extLst>
          </p:cNvPr>
          <p:cNvSpPr>
            <a:spLocks noGrp="1"/>
          </p:cNvSpPr>
          <p:nvPr/>
        </p:nvSpPr>
        <p:spPr>
          <a:xfrm>
            <a:off x="5619750" y="4095750"/>
            <a:ext cx="1885950" cy="609600"/>
          </a:xfrm>
          <a:prstGeom prst="roundRect">
            <a:avLst>
              <a:gd name="adj" fmla="val 10938"/>
            </a:avLst>
          </a:prstGeom>
          <a:solidFill>
            <a:srgbClr val="E1F3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7CE1531-6581-4778-BC3B-B68242249C2F}"/>
              </a:ext>
            </a:extLst>
          </p:cNvPr>
          <p:cNvSpPr>
            <a:spLocks noGrp="1"/>
          </p:cNvSpPr>
          <p:nvPr/>
        </p:nvSpPr>
        <p:spPr>
          <a:xfrm>
            <a:off x="5734050" y="4191000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03B66"/>
                </a:solidFill>
                <a:latin typeface="Arial"/>
                <a:ea typeface="Arial"/>
                <a:cs typeface="Arial"/>
              </a:rPr>
              <a:t>Adjusted EBITA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E501F5-E735-4144-8C10-DE08F6AA9D89}"/>
              </a:ext>
            </a:extLst>
          </p:cNvPr>
          <p:cNvSpPr>
            <a:spLocks noGrp="1"/>
          </p:cNvSpPr>
          <p:nvPr/>
        </p:nvSpPr>
        <p:spPr>
          <a:xfrm>
            <a:off x="5734050" y="4391025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€30.6M in 2026 to €43.2M in 2028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C126D2-77D2-4CC1-BE85-28C5F4082C55}"/>
              </a:ext>
            </a:extLst>
          </p:cNvPr>
          <p:cNvSpPr>
            <a:spLocks noGrp="1"/>
          </p:cNvSpPr>
          <p:nvPr/>
        </p:nvSpPr>
        <p:spPr>
          <a:xfrm>
            <a:off x="704850" y="49149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60" b="1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SHARE ENGINE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ED5856E-71FF-4B52-A8C3-2217BCECE380}"/>
              </a:ext>
            </a:extLst>
          </p:cNvPr>
          <p:cNvSpPr>
            <a:spLocks noGrp="1"/>
          </p:cNvSpPr>
          <p:nvPr/>
        </p:nvSpPr>
        <p:spPr>
          <a:xfrm>
            <a:off x="704850" y="5086350"/>
            <a:ext cx="2133600" cy="609600"/>
          </a:xfrm>
          <a:prstGeom prst="roundRect">
            <a:avLst>
              <a:gd name="adj" fmla="val 10938"/>
            </a:avLst>
          </a:prstGeom>
          <a:solidFill>
            <a:srgbClr val="E6F0F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C8518E-A912-4114-95C8-C2EDB9227F52}"/>
              </a:ext>
            </a:extLst>
          </p:cNvPr>
          <p:cNvSpPr>
            <a:spLocks noGrp="1"/>
          </p:cNvSpPr>
          <p:nvPr/>
        </p:nvSpPr>
        <p:spPr>
          <a:xfrm>
            <a:off x="819150" y="51816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Portfolio + GTM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CE88CE-71E1-4E1D-A33F-C0F1E4EBE621}"/>
              </a:ext>
            </a:extLst>
          </p:cNvPr>
          <p:cNvSpPr>
            <a:spLocks noGrp="1"/>
          </p:cNvSpPr>
          <p:nvPr/>
        </p:nvSpPr>
        <p:spPr>
          <a:xfrm>
            <a:off x="819150" y="53816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TechMax, hero features, upgrades, bundling and inside-sales support</a:t>
            </a: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EF8AAC92-6018-4C5B-BC40-18CE05C422BE}"/>
              </a:ext>
            </a:extLst>
          </p:cNvPr>
          <p:cNvSpPr>
            <a:spLocks noGrp="1"/>
          </p:cNvSpPr>
          <p:nvPr/>
        </p:nvSpPr>
        <p:spPr>
          <a:xfrm>
            <a:off x="2971800" y="5267325"/>
            <a:ext cx="266700" cy="247650"/>
          </a:xfrm>
          <a:prstGeom prst="chevron">
            <a:avLst/>
          </a:prstGeom>
          <a:solidFill>
            <a:srgbClr val="C8D4E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9615A68-8A89-4B06-8B90-645F37C85CFC}"/>
              </a:ext>
            </a:extLst>
          </p:cNvPr>
          <p:cNvSpPr>
            <a:spLocks noGrp="1"/>
          </p:cNvSpPr>
          <p:nvPr/>
        </p:nvSpPr>
        <p:spPr>
          <a:xfrm>
            <a:off x="3371850" y="5086350"/>
            <a:ext cx="1714500" cy="609600"/>
          </a:xfrm>
          <a:prstGeom prst="roundRect">
            <a:avLst>
              <a:gd name="adj" fmla="val 10938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0C6819D-16E3-45B2-9B3B-5F2555C77D2F}"/>
              </a:ext>
            </a:extLst>
          </p:cNvPr>
          <p:cNvSpPr>
            <a:spLocks noGrp="1"/>
          </p:cNvSpPr>
          <p:nvPr/>
        </p:nvSpPr>
        <p:spPr>
          <a:xfrm>
            <a:off x="3486150" y="51816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Adoption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4FFB09-FE0F-4328-B5E9-15C134F7A89E}"/>
              </a:ext>
            </a:extLst>
          </p:cNvPr>
          <p:cNvSpPr>
            <a:spLocks noGrp="1"/>
          </p:cNvSpPr>
          <p:nvPr/>
        </p:nvSpPr>
        <p:spPr>
          <a:xfrm>
            <a:off x="3486150" y="5381625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Contract and CLV indicators are below Q2 target</a:t>
            </a: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10A21413-9170-4BB0-BB13-AB9729240B55}"/>
              </a:ext>
            </a:extLst>
          </p:cNvPr>
          <p:cNvSpPr>
            <a:spLocks noGrp="1"/>
          </p:cNvSpPr>
          <p:nvPr/>
        </p:nvSpPr>
        <p:spPr>
          <a:xfrm>
            <a:off x="5219700" y="5267325"/>
            <a:ext cx="266700" cy="247650"/>
          </a:xfrm>
          <a:prstGeom prst="chevron">
            <a:avLst/>
          </a:prstGeom>
          <a:solidFill>
            <a:srgbClr val="C8D4E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93E8E70-1F25-4CE2-AADE-049300053A36}"/>
              </a:ext>
            </a:extLst>
          </p:cNvPr>
          <p:cNvSpPr>
            <a:spLocks noGrp="1"/>
          </p:cNvSpPr>
          <p:nvPr/>
        </p:nvSpPr>
        <p:spPr>
          <a:xfrm>
            <a:off x="5619750" y="5086350"/>
            <a:ext cx="1885950" cy="609600"/>
          </a:xfrm>
          <a:prstGeom prst="roundRect">
            <a:avLst>
              <a:gd name="adj" fmla="val 10938"/>
            </a:avLst>
          </a:prstGeom>
          <a:solidFill>
            <a:srgbClr val="FFF1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D85E614-66F8-492F-AB2B-BEFA00E66B15}"/>
              </a:ext>
            </a:extLst>
          </p:cNvPr>
          <p:cNvSpPr>
            <a:spLocks noGrp="1"/>
          </p:cNvSpPr>
          <p:nvPr/>
        </p:nvSpPr>
        <p:spPr>
          <a:xfrm>
            <a:off x="5734050" y="5181600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10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103B66"/>
                </a:solidFill>
                <a:latin typeface="Arial"/>
                <a:ea typeface="Arial"/>
                <a:cs typeface="Arial"/>
              </a:rPr>
              <a:t>Market Share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ADC5E0B-C354-4643-990D-86A17E470C86}"/>
              </a:ext>
            </a:extLst>
          </p:cNvPr>
          <p:cNvSpPr>
            <a:spLocks noGrp="1"/>
          </p:cNvSpPr>
          <p:nvPr/>
        </p:nvSpPr>
        <p:spPr>
          <a:xfrm>
            <a:off x="5734050" y="5381625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Directionally positive; no quantified target in sheet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AFE8472-0212-4EFA-BB0E-6802BCA80CF4}"/>
              </a:ext>
            </a:extLst>
          </p:cNvPr>
          <p:cNvSpPr>
            <a:spLocks noGrp="1"/>
          </p:cNvSpPr>
          <p:nvPr/>
        </p:nvSpPr>
        <p:spPr>
          <a:xfrm>
            <a:off x="8001000" y="2552700"/>
            <a:ext cx="3429000" cy="3581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068C34-EB93-405F-8304-B2C5D43F6B5E}"/>
              </a:ext>
            </a:extLst>
          </p:cNvPr>
          <p:cNvSpPr>
            <a:spLocks noGrp="1"/>
          </p:cNvSpPr>
          <p:nvPr/>
        </p:nvSpPr>
        <p:spPr>
          <a:xfrm>
            <a:off x="8172450" y="26860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VCP outcome trajectory (€M)</a:t>
            </a:r>
          </a:p>
        </p:txBody>
      </p:sp>
      <p:graphicFrame>
        <p:nvGraphicFramePr>
          <p:cNvPr id="126" name="Chart"/>
          <p:cNvGraphicFramePr/>
          <p:nvPr/>
        </p:nvGraphicFramePr>
        <p:xfrm>
          <a:off x="8239125" y="3048000"/>
          <a:ext cx="29718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9C7644-FDC3-447C-9F02-C991A67C257D}"/>
              </a:ext>
            </a:extLst>
          </p:cNvPr>
          <p:cNvSpPr>
            <a:spLocks noGrp="1"/>
          </p:cNvSpPr>
          <p:nvPr/>
        </p:nvSpPr>
        <p:spPr>
          <a:xfrm>
            <a:off x="8248650" y="5581650"/>
            <a:ext cx="2933700" cy="361950"/>
          </a:xfrm>
          <a:prstGeom prst="roundRect">
            <a:avLst>
              <a:gd name="adj" fmla="val 15789"/>
            </a:avLst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20EBBE4-C843-4E3D-ABB8-CBC57D035B39}"/>
              </a:ext>
            </a:extLst>
          </p:cNvPr>
          <p:cNvSpPr>
            <a:spLocks noGrp="1"/>
          </p:cNvSpPr>
          <p:nvPr/>
        </p:nvSpPr>
        <p:spPr>
          <a:xfrm>
            <a:off x="8382000" y="5676900"/>
            <a:ext cx="266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788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03B66"/>
                </a:solidFill>
                <a:latin typeface="Arial"/>
                <a:ea typeface="Arial"/>
                <a:cs typeface="Arial"/>
              </a:rPr>
              <a:t>2028 iGM plan: 56.7%</a:t>
            </a:r>
          </a:p>
        </p:txBody>
      </p:sp>
    </p:spTree>
    <p:extLst>
      <p:ext uri="{BB962C8B-B14F-4D97-AF65-F5344CB8AC3E}">
        <p14:creationId xmlns:p14="http://schemas.microsoft.com/office/powerpoint/2010/main" val="72096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380EBECA-1A1C-4173-B61E-62CDA04105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03B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D908F1-DDDB-4A89-9FC1-077CF8808DB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88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RCA AND SHEET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9667F-B93A-4200-BBC6-8BA4E55C52CC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Q2 red KPIs need documented root causes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9F751-A10F-4AD1-AEDC-303A784F9800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RCA is not captured in the sheet, and data gaps also limit the monthly review.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7DF6A9-C2F8-406C-9649-D14EE1B1B1B4}"/>
              </a:ext>
            </a:extLst>
          </p:cNvPr>
          <p:cNvSpPr>
            <a:spLocks noGrp="1"/>
          </p:cNvSpPr>
          <p:nvPr/>
        </p:nvSpPr>
        <p:spPr>
          <a:xfrm>
            <a:off x="9572625" y="28575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Monthly VCP report | 6/6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1D6D96-4C74-40D2-9825-DF6DAFFB3305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6858000" cy="461010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0AAFFC-4939-4BAE-80BC-D3699534E14C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6515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RCA follow-up for Q2 red KPIs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1A3161-2C13-4145-8FBA-2F3F30A72BD4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6477000" cy="86677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EB16EF-AFD1-4912-986C-F97F61E06B81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57150" cy="866775"/>
          </a:xfrm>
          <a:prstGeom prst="rect">
            <a:avLst/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9EBE5-7CC6-49D4-9365-9397AFB903F6}"/>
              </a:ext>
            </a:extLst>
          </p:cNvPr>
          <p:cNvSpPr>
            <a:spLocks noGrp="1"/>
          </p:cNvSpPr>
          <p:nvPr/>
        </p:nvSpPr>
        <p:spPr>
          <a:xfrm>
            <a:off x="876300" y="20478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7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Service Revenue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2E8EA3-146A-42A7-B4FB-18A9DBD036F6}"/>
              </a:ext>
            </a:extLst>
          </p:cNvPr>
          <p:cNvSpPr>
            <a:spLocks noGrp="1"/>
          </p:cNvSpPr>
          <p:nvPr/>
        </p:nvSpPr>
        <p:spPr>
          <a:xfrm>
            <a:off x="6115050" y="2047113"/>
            <a:ext cx="895350" cy="209550"/>
          </a:xfrm>
          <a:prstGeom prst="roundRect">
            <a:avLst>
              <a:gd name="adj" fmla="val 50000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44B376-68BB-45D1-9ADB-D08F44AF5F49}"/>
              </a:ext>
            </a:extLst>
          </p:cNvPr>
          <p:cNvSpPr>
            <a:spLocks noGrp="1"/>
          </p:cNvSpPr>
          <p:nvPr/>
        </p:nvSpPr>
        <p:spPr>
          <a:xfrm>
            <a:off x="6191250" y="2066925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70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-0.30M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96B6C8-5BCA-4F53-BEF6-8342625BC4F6}"/>
              </a:ext>
            </a:extLst>
          </p:cNvPr>
          <p:cNvSpPr>
            <a:spLocks noGrp="1"/>
          </p:cNvSpPr>
          <p:nvPr/>
        </p:nvSpPr>
        <p:spPr>
          <a:xfrm>
            <a:off x="876300" y="22764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RCA status: Not captured; Contract Penetration and CLV Revenue are also below target.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A5FC8-94FD-4F1E-8F79-0161DBD902B9}"/>
              </a:ext>
            </a:extLst>
          </p:cNvPr>
          <p:cNvSpPr>
            <a:spLocks noGrp="1"/>
          </p:cNvSpPr>
          <p:nvPr/>
        </p:nvSpPr>
        <p:spPr>
          <a:xfrm>
            <a:off x="876300" y="2543175"/>
            <a:ext cx="613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103B66"/>
                </a:solidFill>
                <a:latin typeface="Arial"/>
                <a:ea typeface="Arial"/>
                <a:cs typeface="Arial"/>
              </a:rPr>
              <a:t>Management action: Build a region-level bridge across CLV, contracts and </a:t>
            </a:r>
            <a:r>
              <a:rPr sz="900" b="1" dirty="0" err="1">
                <a:solidFill>
                  <a:srgbClr val="103B66"/>
                </a:solidFill>
                <a:latin typeface="Arial"/>
                <a:ea typeface="Arial"/>
                <a:cs typeface="Arial"/>
              </a:rPr>
              <a:t>PoS</a:t>
            </a:r>
            <a:r>
              <a:rPr sz="900" b="1" dirty="0">
                <a:solidFill>
                  <a:srgbClr val="103B66"/>
                </a:solidFill>
                <a:latin typeface="Arial"/>
                <a:ea typeface="Arial"/>
                <a:cs typeface="Arial"/>
              </a:rPr>
              <a:t> bundling.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56E2ED-7E53-4BEB-98D1-F43BD34E9659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6477000" cy="86677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63ABEF-D249-45C2-9D98-DAB6CBA1B7C3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57150" cy="866775"/>
          </a:xfrm>
          <a:prstGeom prst="rect">
            <a:avLst/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415EE0-7FCE-4167-A170-35E776120B09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7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Service </a:t>
            </a:r>
            <a:r>
              <a:rPr sz="1100" b="1" dirty="0" err="1">
                <a:solidFill>
                  <a:srgbClr val="C9363E"/>
                </a:solidFill>
                <a:latin typeface="Arial"/>
                <a:ea typeface="Arial"/>
                <a:cs typeface="Arial"/>
              </a:rPr>
              <a:t>iGM</a:t>
            </a:r>
            <a:endParaRPr sz="1100" b="1" dirty="0">
              <a:solidFill>
                <a:srgbClr val="C936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FFF7A29-B260-4A7C-B7DF-01E7B9836A94}"/>
              </a:ext>
            </a:extLst>
          </p:cNvPr>
          <p:cNvSpPr>
            <a:spLocks noGrp="1"/>
          </p:cNvSpPr>
          <p:nvPr/>
        </p:nvSpPr>
        <p:spPr>
          <a:xfrm>
            <a:off x="6115050" y="2981325"/>
            <a:ext cx="895350" cy="209550"/>
          </a:xfrm>
          <a:prstGeom prst="roundRect">
            <a:avLst>
              <a:gd name="adj" fmla="val 50000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657D42-70ED-4544-897B-93F50E9359C4}"/>
              </a:ext>
            </a:extLst>
          </p:cNvPr>
          <p:cNvSpPr>
            <a:spLocks noGrp="1"/>
          </p:cNvSpPr>
          <p:nvPr/>
        </p:nvSpPr>
        <p:spPr>
          <a:xfrm>
            <a:off x="6191250" y="2982849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70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-1.6 </a:t>
            </a:r>
            <a:r>
              <a:rPr lang="en-US" sz="9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%</a:t>
            </a:r>
            <a:endParaRPr sz="900" b="1" dirty="0">
              <a:solidFill>
                <a:srgbClr val="C936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106FC3-89CF-4587-A738-4D0B56F69A2D}"/>
              </a:ext>
            </a:extLst>
          </p:cNvPr>
          <p:cNvSpPr>
            <a:spLocks noGrp="1"/>
          </p:cNvSpPr>
          <p:nvPr/>
        </p:nvSpPr>
        <p:spPr>
          <a:xfrm>
            <a:off x="876300" y="32289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RCA status: Not captured; Pricing, T&amp;M Margin and Productivity KPI data are blank.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364F68-9A9F-4912-B6B2-093A0E988630}"/>
              </a:ext>
            </a:extLst>
          </p:cNvPr>
          <p:cNvSpPr>
            <a:spLocks noGrp="1"/>
          </p:cNvSpPr>
          <p:nvPr/>
        </p:nvSpPr>
        <p:spPr>
          <a:xfrm>
            <a:off x="876300" y="3495675"/>
            <a:ext cx="613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103B66"/>
                </a:solidFill>
                <a:latin typeface="Arial"/>
                <a:ea typeface="Arial"/>
                <a:cs typeface="Arial"/>
              </a:rPr>
              <a:t>Management action: Quantify the pricing/productivity bridge and assign accountable owners.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75F97A-2E9B-47FC-BB43-1754932A1403}"/>
              </a:ext>
            </a:extLst>
          </p:cNvPr>
          <p:cNvSpPr>
            <a:spLocks noGrp="1"/>
          </p:cNvSpPr>
          <p:nvPr/>
        </p:nvSpPr>
        <p:spPr>
          <a:xfrm>
            <a:off x="704850" y="3857625"/>
            <a:ext cx="6477000" cy="86677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D178D-4F80-44F4-A7CD-B458347C544A}"/>
              </a:ext>
            </a:extLst>
          </p:cNvPr>
          <p:cNvSpPr>
            <a:spLocks noGrp="1"/>
          </p:cNvSpPr>
          <p:nvPr/>
        </p:nvSpPr>
        <p:spPr>
          <a:xfrm>
            <a:off x="704850" y="3857625"/>
            <a:ext cx="57150" cy="866775"/>
          </a:xfrm>
          <a:prstGeom prst="rect">
            <a:avLst/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D08518-C1FE-487C-BE87-01B4DC6FF572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7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Contract Penetration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41CB06C-6791-49A2-9965-7D5A18DC3917}"/>
              </a:ext>
            </a:extLst>
          </p:cNvPr>
          <p:cNvSpPr>
            <a:spLocks noGrp="1"/>
          </p:cNvSpPr>
          <p:nvPr/>
        </p:nvSpPr>
        <p:spPr>
          <a:xfrm>
            <a:off x="6115050" y="3933825"/>
            <a:ext cx="895350" cy="209550"/>
          </a:xfrm>
          <a:prstGeom prst="roundRect">
            <a:avLst>
              <a:gd name="adj" fmla="val 50000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0B0D70-A886-4A1B-B6F6-75270BE59268}"/>
              </a:ext>
            </a:extLst>
          </p:cNvPr>
          <p:cNvSpPr>
            <a:spLocks noGrp="1"/>
          </p:cNvSpPr>
          <p:nvPr/>
        </p:nvSpPr>
        <p:spPr>
          <a:xfrm>
            <a:off x="6191250" y="3944493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70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-0.7 </a:t>
            </a:r>
            <a:r>
              <a:rPr lang="en-US" sz="9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%</a:t>
            </a:r>
            <a:endParaRPr sz="900" b="1" dirty="0">
              <a:solidFill>
                <a:srgbClr val="C936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5D44C5-3371-4C77-A49C-188C97B52BA9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RCA status: Not captured; GTM enablement and bundling at sale are the stated levers.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BD5603-550F-46C2-84F1-417A4438207E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613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103B66"/>
                </a:solidFill>
                <a:latin typeface="Arial"/>
                <a:ea typeface="Arial"/>
                <a:cs typeface="Arial"/>
              </a:rPr>
              <a:t>Management action: Document region conversion blockers and recovery actions.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B80918-B95E-49E8-8C11-1C20CCC81A9F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6477000" cy="866775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31D496-F0C1-4BC3-BBFE-522F1FB04FF0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57150" cy="866775"/>
          </a:xfrm>
          <a:prstGeom prst="rect">
            <a:avLst/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6CB824-FE86-4D57-8821-997576B53DA2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7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CLV Revenue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A08AE7-8CA8-4B1B-896B-07566D4CED6C}"/>
              </a:ext>
            </a:extLst>
          </p:cNvPr>
          <p:cNvSpPr>
            <a:spLocks noGrp="1"/>
          </p:cNvSpPr>
          <p:nvPr/>
        </p:nvSpPr>
        <p:spPr>
          <a:xfrm>
            <a:off x="6115050" y="4886325"/>
            <a:ext cx="895350" cy="209550"/>
          </a:xfrm>
          <a:prstGeom prst="roundRect">
            <a:avLst>
              <a:gd name="adj" fmla="val 50000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0A652D-78FF-49F6-ACC8-BDC98E14C5B7}"/>
              </a:ext>
            </a:extLst>
          </p:cNvPr>
          <p:cNvSpPr>
            <a:spLocks noGrp="1"/>
          </p:cNvSpPr>
          <p:nvPr/>
        </p:nvSpPr>
        <p:spPr>
          <a:xfrm>
            <a:off x="6191250" y="4878705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70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9363E"/>
                </a:solidFill>
                <a:latin typeface="Arial"/>
                <a:ea typeface="Arial"/>
                <a:cs typeface="Arial"/>
              </a:rPr>
              <a:t>-0.16M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F82F5C-9E25-46AF-9E8B-C7053BB56F8D}"/>
              </a:ext>
            </a:extLst>
          </p:cNvPr>
          <p:cNvSpPr>
            <a:spLocks noGrp="1"/>
          </p:cNvSpPr>
          <p:nvPr/>
        </p:nvSpPr>
        <p:spPr>
          <a:xfrm>
            <a:off x="876300" y="51339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RCA status: Not captured; </a:t>
            </a:r>
            <a:r>
              <a:rPr sz="900" b="0" dirty="0" err="1">
                <a:solidFill>
                  <a:srgbClr val="5B6678"/>
                </a:solidFill>
                <a:latin typeface="Arial"/>
                <a:ea typeface="Arial"/>
                <a:cs typeface="Arial"/>
              </a:rPr>
              <a:t>TechMax</a:t>
            </a:r>
            <a:r>
              <a:rPr sz="900" b="0" dirty="0">
                <a:solidFill>
                  <a:srgbClr val="5B6678"/>
                </a:solidFill>
                <a:latin typeface="Arial"/>
                <a:ea typeface="Arial"/>
                <a:cs typeface="Arial"/>
              </a:rPr>
              <a:t>, hero features and upgrades are named, but the miss is unexplained.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35B9AD-DC42-4999-81AE-7A4E2B6DD02D}"/>
              </a:ext>
            </a:extLst>
          </p:cNvPr>
          <p:cNvSpPr>
            <a:spLocks noGrp="1"/>
          </p:cNvSpPr>
          <p:nvPr/>
        </p:nvSpPr>
        <p:spPr>
          <a:xfrm>
            <a:off x="876300" y="5400675"/>
            <a:ext cx="613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0" b="1">
                <a:solidFill>
                  <a:srgbClr val="103B66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103B66"/>
                </a:solidFill>
                <a:latin typeface="Arial"/>
                <a:ea typeface="Arial"/>
                <a:cs typeface="Arial"/>
              </a:rPr>
              <a:t>Management action: Reconcile the CLV pipeline to Q3/Q4 targets and close risks.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5D5FE28-13B3-4A8D-B562-A7C6502BA887}"/>
              </a:ext>
            </a:extLst>
          </p:cNvPr>
          <p:cNvSpPr>
            <a:spLocks noGrp="1"/>
          </p:cNvSpPr>
          <p:nvPr/>
        </p:nvSpPr>
        <p:spPr>
          <a:xfrm>
            <a:off x="7620000" y="1524000"/>
            <a:ext cx="3810000" cy="4610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DB97A0-8B53-40BA-B152-6690514E5CEB}"/>
              </a:ext>
            </a:extLst>
          </p:cNvPr>
          <p:cNvSpPr>
            <a:spLocks noGrp="1"/>
          </p:cNvSpPr>
          <p:nvPr/>
        </p:nvSpPr>
        <p:spPr>
          <a:xfrm>
            <a:off x="7791450" y="165735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Sheet performance report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2CC23E-65E7-4109-AADB-A5211BCBBE15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3429000" cy="781050"/>
          </a:xfrm>
          <a:prstGeom prst="roundRect">
            <a:avLst>
              <a:gd name="adj" fmla="val 8537"/>
            </a:avLst>
          </a:prstGeom>
          <a:solidFill>
            <a:srgbClr val="F9DF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41256D-9993-4E8F-B09B-6327FAEBE109}"/>
              </a:ext>
            </a:extLst>
          </p:cNvPr>
          <p:cNvSpPr>
            <a:spLocks noGrp="1"/>
          </p:cNvSpPr>
          <p:nvPr/>
        </p:nvSpPr>
        <p:spPr>
          <a:xfrm>
            <a:off x="8001000" y="2057400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44/72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F0736F-18AC-4D3A-B8D4-5B8A950B1310}"/>
              </a:ext>
            </a:extLst>
          </p:cNvPr>
          <p:cNvSpPr>
            <a:spLocks noGrp="1"/>
          </p:cNvSpPr>
          <p:nvPr/>
        </p:nvSpPr>
        <p:spPr>
          <a:xfrm>
            <a:off x="8934450" y="2076450"/>
            <a:ext cx="2114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73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Quarterly target / actual cells blank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EC4A84F-E83D-4009-892B-B8FFAD355370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2857500" cy="85725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8747B6C-2F50-43EB-BC15-C098A36C0571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1111250" cy="85725"/>
          </a:xfrm>
          <a:prstGeom prst="roundRect">
            <a:avLst>
              <a:gd name="adj" fmla="val 50000"/>
            </a:avLst>
          </a:prstGeom>
          <a:solidFill>
            <a:srgbClr val="1769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930F3E-B262-4EB7-8D6F-799178988C44}"/>
              </a:ext>
            </a:extLst>
          </p:cNvPr>
          <p:cNvSpPr>
            <a:spLocks noGrp="1"/>
          </p:cNvSpPr>
          <p:nvPr/>
        </p:nvSpPr>
        <p:spPr>
          <a:xfrm>
            <a:off x="8001000" y="2571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66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39% populated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FAC26C-AF43-4768-A306-C138C836ADAB}"/>
              </a:ext>
            </a:extLst>
          </p:cNvPr>
          <p:cNvSpPr>
            <a:spLocks noGrp="1"/>
          </p:cNvSpPr>
          <p:nvPr/>
        </p:nvSpPr>
        <p:spPr>
          <a:xfrm>
            <a:off x="7810500" y="28765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7DBD8-8F66-43CB-B9D1-F0FAFF4ED9B6}"/>
              </a:ext>
            </a:extLst>
          </p:cNvPr>
          <p:cNvSpPr>
            <a:spLocks noGrp="1"/>
          </p:cNvSpPr>
          <p:nvPr/>
        </p:nvSpPr>
        <p:spPr>
          <a:xfrm>
            <a:off x="7810500" y="2876550"/>
            <a:ext cx="57150" cy="685800"/>
          </a:xfrm>
          <a:prstGeom prst="rect">
            <a:avLst/>
          </a:prstGeom>
          <a:solidFill>
            <a:srgbClr val="1769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F5CEF3-C3D8-44DE-B7A6-A97C34678E7D}"/>
              </a:ext>
            </a:extLst>
          </p:cNvPr>
          <p:cNvSpPr>
            <a:spLocks noGrp="1"/>
          </p:cNvSpPr>
          <p:nvPr/>
        </p:nvSpPr>
        <p:spPr>
          <a:xfrm>
            <a:off x="7981950" y="2990850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69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C2"/>
                </a:solidFill>
                <a:latin typeface="Arial"/>
                <a:ea typeface="Arial"/>
                <a:cs typeface="Arial"/>
              </a:rPr>
              <a:t>67%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680A38-F97F-43F9-9020-A0EA431F5C71}"/>
              </a:ext>
            </a:extLst>
          </p:cNvPr>
          <p:cNvSpPr>
            <a:spLocks noGrp="1"/>
          </p:cNvSpPr>
          <p:nvPr/>
        </p:nvSpPr>
        <p:spPr>
          <a:xfrm>
            <a:off x="7981950" y="33051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Critical qtr data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61DA89-C256-4471-AEDC-007FB9F0737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276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Cells populated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DC3515B-D30D-4B3B-AE3C-FEAB8F558CFC}"/>
              </a:ext>
            </a:extLst>
          </p:cNvPr>
          <p:cNvSpPr>
            <a:spLocks noGrp="1"/>
          </p:cNvSpPr>
          <p:nvPr/>
        </p:nvSpPr>
        <p:spPr>
          <a:xfrm>
            <a:off x="9620250" y="28765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12886D-4169-4799-B817-3C714C572521}"/>
              </a:ext>
            </a:extLst>
          </p:cNvPr>
          <p:cNvSpPr>
            <a:spLocks noGrp="1"/>
          </p:cNvSpPr>
          <p:nvPr/>
        </p:nvSpPr>
        <p:spPr>
          <a:xfrm>
            <a:off x="9620250" y="2876550"/>
            <a:ext cx="57150" cy="685800"/>
          </a:xfrm>
          <a:prstGeom prst="rect">
            <a:avLst/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BA42A1-84FB-4A57-AE9B-445F35E5BD75}"/>
              </a:ext>
            </a:extLst>
          </p:cNvPr>
          <p:cNvSpPr>
            <a:spLocks noGrp="1"/>
          </p:cNvSpPr>
          <p:nvPr/>
        </p:nvSpPr>
        <p:spPr>
          <a:xfrm>
            <a:off x="9791700" y="2990850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D8F786B-C429-42C2-B91A-B27C6872690D}"/>
              </a:ext>
            </a:extLst>
          </p:cNvPr>
          <p:cNvSpPr>
            <a:spLocks noGrp="1"/>
          </p:cNvSpPr>
          <p:nvPr/>
        </p:nvSpPr>
        <p:spPr>
          <a:xfrm>
            <a:off x="9791700" y="3305175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15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Enabling qtr data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430688-609A-4BB5-A904-BFCCA58E8764}"/>
              </a:ext>
            </a:extLst>
          </p:cNvPr>
          <p:cNvSpPr>
            <a:spLocks noGrp="1"/>
          </p:cNvSpPr>
          <p:nvPr/>
        </p:nvSpPr>
        <p:spPr>
          <a:xfrm>
            <a:off x="9791700" y="3505200"/>
            <a:ext cx="1276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2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72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Cells populated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6ADA09F-FC28-474A-8781-C7734CF8B0E7}"/>
              </a:ext>
            </a:extLst>
          </p:cNvPr>
          <p:cNvSpPr>
            <a:spLocks noGrp="1"/>
          </p:cNvSpPr>
          <p:nvPr/>
        </p:nvSpPr>
        <p:spPr>
          <a:xfrm>
            <a:off x="7810500" y="37528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40" b="1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52033"/>
                </a:solidFill>
                <a:latin typeface="Arial"/>
                <a:ea typeface="Arial"/>
                <a:cs typeface="Arial"/>
              </a:rPr>
              <a:t>Missing core KPI fields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476A4DD-ED8A-4AED-B3DE-72DE4DD67E1E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1123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7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C524B16-A585-4AAA-941F-AD17F96F76D7}"/>
              </a:ext>
            </a:extLst>
          </p:cNvPr>
          <p:cNvSpPr>
            <a:spLocks noGrp="1"/>
          </p:cNvSpPr>
          <p:nvPr/>
        </p:nvSpPr>
        <p:spPr>
          <a:xfrm>
            <a:off x="8991600" y="4029075"/>
            <a:ext cx="1790700" cy="7620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BBD85DE-9AEF-4A97-BBBD-FAAD9A7FA446}"/>
              </a:ext>
            </a:extLst>
          </p:cNvPr>
          <p:cNvSpPr>
            <a:spLocks noGrp="1"/>
          </p:cNvSpPr>
          <p:nvPr/>
        </p:nvSpPr>
        <p:spPr>
          <a:xfrm>
            <a:off x="8991600" y="4029075"/>
            <a:ext cx="1790700" cy="76200"/>
          </a:xfrm>
          <a:prstGeom prst="roundRect">
            <a:avLst>
              <a:gd name="adj" fmla="val 50000"/>
            </a:avLst>
          </a:prstGeom>
          <a:solidFill>
            <a:srgbClr val="C9363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B5CE11-1DF1-4EBF-9AF1-92D412F2B8D7}"/>
              </a:ext>
            </a:extLst>
          </p:cNvPr>
          <p:cNvSpPr>
            <a:spLocks noGrp="1"/>
          </p:cNvSpPr>
          <p:nvPr/>
        </p:nvSpPr>
        <p:spPr>
          <a:xfrm>
            <a:off x="10839450" y="4000500"/>
            <a:ext cx="400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675" b="1">
                <a:solidFill>
                  <a:srgbClr val="C9363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C9363E"/>
                </a:solidFill>
                <a:latin typeface="Arial"/>
                <a:ea typeface="Arial"/>
                <a:cs typeface="Arial"/>
              </a:rPr>
              <a:t>9/9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309A8E8-0D70-421F-97E6-D683D6525792}"/>
              </a:ext>
            </a:extLst>
          </p:cNvPr>
          <p:cNvSpPr>
            <a:spLocks noGrp="1"/>
          </p:cNvSpPr>
          <p:nvPr/>
        </p:nvSpPr>
        <p:spPr>
          <a:xfrm>
            <a:off x="7810500" y="4191000"/>
            <a:ext cx="1123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7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Baseline (2025)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52E87E2-08E6-4DB0-B2BF-0724F2D4F66E}"/>
              </a:ext>
            </a:extLst>
          </p:cNvPr>
          <p:cNvSpPr>
            <a:spLocks noGrp="1"/>
          </p:cNvSpPr>
          <p:nvPr/>
        </p:nvSpPr>
        <p:spPr>
          <a:xfrm>
            <a:off x="8991600" y="4219575"/>
            <a:ext cx="1790700" cy="7620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5A7EAB4-7EB4-4BFD-859B-017219A397F0}"/>
              </a:ext>
            </a:extLst>
          </p:cNvPr>
          <p:cNvSpPr>
            <a:spLocks noGrp="1"/>
          </p:cNvSpPr>
          <p:nvPr/>
        </p:nvSpPr>
        <p:spPr>
          <a:xfrm>
            <a:off x="8991600" y="4219575"/>
            <a:ext cx="795867" cy="76200"/>
          </a:xfrm>
          <a:prstGeom prst="roundRect">
            <a:avLst>
              <a:gd name="adj" fmla="val 50000"/>
            </a:avLst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D8C3F3B-E814-4507-B078-FC8ED66EF4ED}"/>
              </a:ext>
            </a:extLst>
          </p:cNvPr>
          <p:cNvSpPr>
            <a:spLocks noGrp="1"/>
          </p:cNvSpPr>
          <p:nvPr/>
        </p:nvSpPr>
        <p:spPr>
          <a:xfrm>
            <a:off x="10839450" y="4191000"/>
            <a:ext cx="400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6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4/9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444A0C6-D862-4DB4-B67A-4F5060C4D6BC}"/>
              </a:ext>
            </a:extLst>
          </p:cNvPr>
          <p:cNvSpPr>
            <a:spLocks noGrp="1"/>
          </p:cNvSpPr>
          <p:nvPr/>
        </p:nvSpPr>
        <p:spPr>
          <a:xfrm>
            <a:off x="7810500" y="4381500"/>
            <a:ext cx="1123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7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Target 2026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D3C6417-F29E-450B-B19B-8314E5AC1B5F}"/>
              </a:ext>
            </a:extLst>
          </p:cNvPr>
          <p:cNvSpPr>
            <a:spLocks noGrp="1"/>
          </p:cNvSpPr>
          <p:nvPr/>
        </p:nvSpPr>
        <p:spPr>
          <a:xfrm>
            <a:off x="8991600" y="4410075"/>
            <a:ext cx="1790700" cy="7620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818C353-DC98-41BF-847D-05653C509FB4}"/>
              </a:ext>
            </a:extLst>
          </p:cNvPr>
          <p:cNvSpPr>
            <a:spLocks noGrp="1"/>
          </p:cNvSpPr>
          <p:nvPr/>
        </p:nvSpPr>
        <p:spPr>
          <a:xfrm>
            <a:off x="8991600" y="4410075"/>
            <a:ext cx="795867" cy="76200"/>
          </a:xfrm>
          <a:prstGeom prst="roundRect">
            <a:avLst>
              <a:gd name="adj" fmla="val 50000"/>
            </a:avLst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63B84D-4973-4440-9024-451D2546E23A}"/>
              </a:ext>
            </a:extLst>
          </p:cNvPr>
          <p:cNvSpPr>
            <a:spLocks noGrp="1"/>
          </p:cNvSpPr>
          <p:nvPr/>
        </p:nvSpPr>
        <p:spPr>
          <a:xfrm>
            <a:off x="10839450" y="4381500"/>
            <a:ext cx="400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6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4/9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6238013-FC99-40E9-91C3-4F876D62B86A}"/>
              </a:ext>
            </a:extLst>
          </p:cNvPr>
          <p:cNvSpPr>
            <a:spLocks noGrp="1"/>
          </p:cNvSpPr>
          <p:nvPr/>
        </p:nvSpPr>
        <p:spPr>
          <a:xfrm>
            <a:off x="7810500" y="4572000"/>
            <a:ext cx="1123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7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Target 2027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36531DF-6C79-4B73-9F22-F4A550B3DA92}"/>
              </a:ext>
            </a:extLst>
          </p:cNvPr>
          <p:cNvSpPr>
            <a:spLocks noGrp="1"/>
          </p:cNvSpPr>
          <p:nvPr/>
        </p:nvSpPr>
        <p:spPr>
          <a:xfrm>
            <a:off x="8991600" y="4600575"/>
            <a:ext cx="1790700" cy="7620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651B959-2820-4AE6-A87A-E073F4B1EC23}"/>
              </a:ext>
            </a:extLst>
          </p:cNvPr>
          <p:cNvSpPr>
            <a:spLocks noGrp="1"/>
          </p:cNvSpPr>
          <p:nvPr/>
        </p:nvSpPr>
        <p:spPr>
          <a:xfrm>
            <a:off x="8991600" y="4600575"/>
            <a:ext cx="795867" cy="76200"/>
          </a:xfrm>
          <a:prstGeom prst="roundRect">
            <a:avLst>
              <a:gd name="adj" fmla="val 50000"/>
            </a:avLst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0CA0E4F-ADBB-4BC0-80C2-915D51513CF2}"/>
              </a:ext>
            </a:extLst>
          </p:cNvPr>
          <p:cNvSpPr>
            <a:spLocks noGrp="1"/>
          </p:cNvSpPr>
          <p:nvPr/>
        </p:nvSpPr>
        <p:spPr>
          <a:xfrm>
            <a:off x="10839450" y="4572000"/>
            <a:ext cx="400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6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4/9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3A4AF99-2B8C-4FFC-B668-93A24E81FFC5}"/>
              </a:ext>
            </a:extLst>
          </p:cNvPr>
          <p:cNvSpPr>
            <a:spLocks noGrp="1"/>
          </p:cNvSpPr>
          <p:nvPr/>
        </p:nvSpPr>
        <p:spPr>
          <a:xfrm>
            <a:off x="7810500" y="4762500"/>
            <a:ext cx="1123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7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Target 2028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CABE149-2F12-46D3-A4F3-B08D852BE474}"/>
              </a:ext>
            </a:extLst>
          </p:cNvPr>
          <p:cNvSpPr>
            <a:spLocks noGrp="1"/>
          </p:cNvSpPr>
          <p:nvPr/>
        </p:nvSpPr>
        <p:spPr>
          <a:xfrm>
            <a:off x="8991600" y="4791075"/>
            <a:ext cx="1790700" cy="7620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8CC64FD1-E7A8-4D90-99E0-8ED63A3421E1}"/>
              </a:ext>
            </a:extLst>
          </p:cNvPr>
          <p:cNvSpPr>
            <a:spLocks noGrp="1"/>
          </p:cNvSpPr>
          <p:nvPr/>
        </p:nvSpPr>
        <p:spPr>
          <a:xfrm>
            <a:off x="8991600" y="4791075"/>
            <a:ext cx="596900" cy="76200"/>
          </a:xfrm>
          <a:prstGeom prst="roundRect">
            <a:avLst>
              <a:gd name="adj" fmla="val 50000"/>
            </a:avLst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147A961-C753-430F-932A-A434DC0CD732}"/>
              </a:ext>
            </a:extLst>
          </p:cNvPr>
          <p:cNvSpPr>
            <a:spLocks noGrp="1"/>
          </p:cNvSpPr>
          <p:nvPr/>
        </p:nvSpPr>
        <p:spPr>
          <a:xfrm>
            <a:off x="10839450" y="4762500"/>
            <a:ext cx="400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6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3/9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E79BDF6-F47E-4B8D-B0FB-8396AB4D114C}"/>
              </a:ext>
            </a:extLst>
          </p:cNvPr>
          <p:cNvSpPr>
            <a:spLocks noGrp="1"/>
          </p:cNvSpPr>
          <p:nvPr/>
        </p:nvSpPr>
        <p:spPr>
          <a:xfrm>
            <a:off x="7810500" y="4953000"/>
            <a:ext cx="1123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75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Committed actions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D57CA05-AC3D-4B58-AED1-F259AEAB7856}"/>
              </a:ext>
            </a:extLst>
          </p:cNvPr>
          <p:cNvSpPr>
            <a:spLocks noGrp="1"/>
          </p:cNvSpPr>
          <p:nvPr/>
        </p:nvSpPr>
        <p:spPr>
          <a:xfrm>
            <a:off x="8991600" y="4981575"/>
            <a:ext cx="1790700" cy="7620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63F0786-441F-488F-B95A-5225332D2D3C}"/>
              </a:ext>
            </a:extLst>
          </p:cNvPr>
          <p:cNvSpPr>
            <a:spLocks noGrp="1"/>
          </p:cNvSpPr>
          <p:nvPr/>
        </p:nvSpPr>
        <p:spPr>
          <a:xfrm>
            <a:off x="8991600" y="4981575"/>
            <a:ext cx="596900" cy="76200"/>
          </a:xfrm>
          <a:prstGeom prst="roundRect">
            <a:avLst>
              <a:gd name="adj" fmla="val 50000"/>
            </a:avLst>
          </a:prstGeom>
          <a:solidFill>
            <a:srgbClr val="A36B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D90C082-51D2-4D61-9408-AAD077DCA4CF}"/>
              </a:ext>
            </a:extLst>
          </p:cNvPr>
          <p:cNvSpPr>
            <a:spLocks noGrp="1"/>
          </p:cNvSpPr>
          <p:nvPr/>
        </p:nvSpPr>
        <p:spPr>
          <a:xfrm>
            <a:off x="10839450" y="4953000"/>
            <a:ext cx="400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6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3/9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4739D1C-6D94-4918-A001-518611A5BCB6}"/>
              </a:ext>
            </a:extLst>
          </p:cNvPr>
          <p:cNvSpPr>
            <a:spLocks noGrp="1"/>
          </p:cNvSpPr>
          <p:nvPr/>
        </p:nvSpPr>
        <p:spPr>
          <a:xfrm>
            <a:off x="7810500" y="5219700"/>
            <a:ext cx="3429000" cy="723900"/>
          </a:xfrm>
          <a:prstGeom prst="roundRect">
            <a:avLst>
              <a:gd name="adj" fmla="val 9211"/>
            </a:avLst>
          </a:prstGeom>
          <a:solidFill>
            <a:srgbClr val="FFF1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41AE138-5DA6-4452-BCCA-F75A981181A8}"/>
              </a:ext>
            </a:extLst>
          </p:cNvPr>
          <p:cNvSpPr>
            <a:spLocks noGrp="1"/>
          </p:cNvSpPr>
          <p:nvPr/>
        </p:nvSpPr>
        <p:spPr>
          <a:xfrm>
            <a:off x="7981950" y="5334000"/>
            <a:ext cx="3067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5 fully empty theme-tracker columns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AD8B3C9-ACF4-4023-9B66-9FD8B67491CE}"/>
              </a:ext>
            </a:extLst>
          </p:cNvPr>
          <p:cNvSpPr>
            <a:spLocks noGrp="1"/>
          </p:cNvSpPr>
          <p:nvPr/>
        </p:nvSpPr>
        <p:spPr>
          <a:xfrm>
            <a:off x="7981950" y="554355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90" b="0">
                <a:solidFill>
                  <a:srgbClr val="15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52033"/>
                </a:solidFill>
                <a:latin typeface="Arial"/>
                <a:ea typeface="Arial"/>
                <a:cs typeface="Arial"/>
              </a:rPr>
              <a:t>Impact, Owner, Start Date, Theme Progress and Unit. Planned Completion is blank in 25/31 rows; Action Progress in 14/31.</a:t>
            </a:r>
          </a:p>
        </p:txBody>
      </p:sp>
    </p:spTree>
    <p:extLst>
      <p:ext uri="{BB962C8B-B14F-4D97-AF65-F5344CB8AC3E}">
        <p14:creationId xmlns:p14="http://schemas.microsoft.com/office/powerpoint/2010/main" val="8852455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1;Scheme1;-1;-2"/>
  <p:tag name="COLORSETCLASSNAME" val="ColorSet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387266672037986304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3022632-DCC7-4756-874C-822D60F0BF24}">
  <ds:schemaRefs/>
</ds:datastoreItem>
</file>

<file path=customXml/itemProps2.xml><?xml version="1.0" encoding="utf-8"?>
<ds:datastoreItem xmlns:ds="http://schemas.openxmlformats.org/officeDocument/2006/customXml" ds:itemID="{73848E98-C35A-4331-A08E-D24962970D5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1714</Words>
  <Application>Microsoft Office PowerPoint</Application>
  <DocSecurity>0</DocSecurity>
  <PresentationFormat>Widescreen</PresentationFormat>
  <Paragraphs>319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ChatGPT</vt:lpstr>
      <vt:lpstr>Slide Master Only: November 2024</vt:lpstr>
      <vt:lpstr>think-cell Slide</vt:lpstr>
      <vt:lpstr>Presentation cover slide example: Vertical white logo on blue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Jindal, Aditya</cp:lastModifiedBy>
  <cp:revision>2</cp:revision>
  <dcterms:created xsi:type="dcterms:W3CDTF">2026-09-04T13:47:40Z</dcterms:created>
  <dcterms:modified xsi:type="dcterms:W3CDTF">2026-09-04T14:41:48Z</dcterms:modified>
</cp:coreProperties>
</file>