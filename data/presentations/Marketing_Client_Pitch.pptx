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0" d="100"/>
          <a:sy n="40" d="100"/>
        </p:scale>
        <p:origin x="62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9E6BE0-9C79-4F6D-774D-66A39B6214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5FC50E-77B9-FCC0-DD8A-A806D6B885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8C1F75-0988-0971-A514-AC630E04A7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8B358-946C-4686-837D-853AF03E8749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B0C9F3-386D-AFD8-7391-3BF135A6FB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D07478-51C7-324E-8B3F-713AD7348F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A4E73-6AB8-49DA-9F55-E992D9AA7D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37045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A4436E-AD71-96ED-1736-420ACF9A88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0090F1-7561-54EB-E3F1-9B32EB1998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A5DF4A-2276-FC9D-69AE-E368B61696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8B358-946C-4686-837D-853AF03E8749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AEE359-90B7-941F-C011-21F278ACF0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FF024C-4EC5-4629-0D2C-A63D2CFF34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A4E73-6AB8-49DA-9F55-E992D9AA7D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64190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82563B-DAE5-40AB-9E96-637116FB4F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A7405F-0CDB-6AC3-66C8-B8EE538736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9F9335-D6F2-563C-1BA5-F399F89CC6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8B358-946C-4686-837D-853AF03E8749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A8DB4B-061F-FDAF-0E1C-2D4CEA5C44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75DDF9-B9E5-61A6-B921-99B05EF699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A4E73-6AB8-49DA-9F55-E992D9AA7D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19608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60CFC1-6F24-0FB9-EAC0-AF5DF5CBEE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5FDF57-FEF4-E969-3A21-CA1E979EDF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F43059-9D3F-3431-5E75-9E1A15E607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D169C6-249A-259A-528A-24F093C3B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8B358-946C-4686-837D-853AF03E8749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145853-96B2-C34E-94A6-94C96800DF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8C3169-165B-E491-62E2-6C8BBD0EF3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A4E73-6AB8-49DA-9F55-E992D9AA7D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23661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C8CB09-9270-560D-AAC9-3769663A4C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F40F9C-95FB-2F47-659D-FDB16EDDDA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05FDFF-80AB-9CF8-AD64-CC3045CF07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9134405-D211-5E35-19F9-BA11CC6A63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4841650-3040-6834-54EA-E75AF17174A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9B4C8D-FBCC-74BF-C09B-21854B09AD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8B358-946C-4686-837D-853AF03E8749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1210C6E-126F-2D58-D96C-10EC5B7C08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FBA8DE-F4F0-5E82-83DF-C2D9701573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A4E73-6AB8-49DA-9F55-E992D9AA7D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92790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1647E8-27E9-D9DE-B10B-011C58377E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002A6C6-D0A4-0B86-F468-F1BC0A270B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8B358-946C-4686-837D-853AF03E8749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1160A2-5FB2-74FE-BCD5-4B1582DE47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2F4462-48CB-D9C2-2609-BC3F9CA431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A4E73-6AB8-49DA-9F55-E992D9AA7D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86205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81D77AB-FC88-A079-E1CF-D2035344C7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8B358-946C-4686-837D-853AF03E8749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772D4B-8FF6-C56F-51D6-15CE75BB0F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057F66-5765-49BB-0A69-948624C85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A4E73-6AB8-49DA-9F55-E992D9AA7D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10197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D90DD-BD55-FF70-ED7B-7DE8A221A3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731B35-4F78-EB79-EB98-C42722490C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4C40BB-5499-4D0E-BDB6-70909F3467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407EBB-95C3-CBB5-31F0-BA2CB37DA3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8B358-946C-4686-837D-853AF03E8749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075AB4-3AD6-88FA-B79D-A59D245C38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4A8FD7-942C-5AF1-910B-18330265A0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A4E73-6AB8-49DA-9F55-E992D9AA7D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84035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8799CA-B548-163A-E788-36CDCD8793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1E17ED6-AE70-C73E-F3D9-C7771C63E84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307253-759A-925A-A5D7-01CBBC13FB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E79C7C-025D-F257-434A-148B654F69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8B358-946C-4686-837D-853AF03E8749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CB440F-0E87-4905-F8AA-7E03DF49D1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F8AC04-B44E-57D0-7829-8534C05D1E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A4E73-6AB8-49DA-9F55-E992D9AA7D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11060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FA1049-4F9F-B9C8-3AA9-29C4E4B196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E79CFC-E900-025A-F9A2-24D96ACA8C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014760-1226-86D6-4A64-74C7124820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8B358-946C-4686-837D-853AF03E8749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EB37A-5A3A-4EA6-92FE-20BA41A266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263573-A3AF-4233-311F-F8EF6AB91C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A4E73-6AB8-49DA-9F55-E992D9AA7D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1628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693F6D0-6D5E-5F2C-369B-15EB2284328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4CD4C6-2611-0BA5-ABD7-F90D4C2042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B70E7A-0C57-3828-DE80-4F23800ABB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8B358-946C-4686-837D-853AF03E8749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AAAE4D-8D91-DBCA-7290-B1419F1AAA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883B76-C8A5-8808-4019-27D0DA64B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A4E73-6AB8-49DA-9F55-E992D9AA7D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80918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49E9C7F-D0E8-9D9C-46B3-2C3BE2DB6D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384708-6AAF-57A5-11A2-1B46C581DC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9CF800-1764-739D-7258-AAEDED1DEE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728B358-946C-4686-837D-853AF03E8749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C3DEFC-411A-6AC0-0728-6708104AB7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487F56-CAF4-7EE1-A296-38C5B2D082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4A4E73-6AB8-49DA-9F55-E992D9AA7D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58340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003025F-9CA7-92A1-EA4F-6D1B9800CA7A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3262AFB-6400-FBCF-5675-C2DEE8D81246}"/>
              </a:ext>
            </a:extLst>
          </p:cNvPr>
          <p:cNvSpPr txBox="1"/>
          <p:nvPr/>
        </p:nvSpPr>
        <p:spPr>
          <a:xfrm>
            <a:off x="698500" y="533400"/>
            <a:ext cx="381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b="1">
                <a:solidFill>
                  <a:srgbClr val="FFFFFF"/>
                </a:solidFill>
                <a:latin typeface="Arial" panose="020B0604020202020204" pitchFamily="34" charset="0"/>
              </a:rPr>
              <a:t>P H I L I P 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A9B7865-8523-C0BB-0DE0-190F8B59DE77}"/>
              </a:ext>
            </a:extLst>
          </p:cNvPr>
          <p:cNvSpPr/>
          <p:nvPr/>
        </p:nvSpPr>
        <p:spPr>
          <a:xfrm>
            <a:off x="723900" y="1041400"/>
            <a:ext cx="698500" cy="38100"/>
          </a:xfrm>
          <a:prstGeom prst="rect">
            <a:avLst/>
          </a:prstGeom>
          <a:solidFill>
            <a:srgbClr val="6FD1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E1932A2-6B59-AE70-4331-DCADD7734F77}"/>
              </a:ext>
            </a:extLst>
          </p:cNvPr>
          <p:cNvSpPr txBox="1"/>
          <p:nvPr/>
        </p:nvSpPr>
        <p:spPr>
          <a:xfrm>
            <a:off x="736600" y="2413000"/>
            <a:ext cx="10541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4200" b="1">
                <a:solidFill>
                  <a:srgbClr val="FFFFFF"/>
                </a:solidFill>
                <a:latin typeface="Calibri" panose="020F0502020204030204" pitchFamily="34" charset="0"/>
              </a:rPr>
              <a:t>Marketing That Moves the Needle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89FF85F-92F4-6260-8246-5252E7CF8EFF}"/>
              </a:ext>
            </a:extLst>
          </p:cNvPr>
          <p:cNvSpPr txBox="1"/>
          <p:nvPr/>
        </p:nvSpPr>
        <p:spPr>
          <a:xfrm>
            <a:off x="762000" y="4064000"/>
            <a:ext cx="889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>
                <a:solidFill>
                  <a:srgbClr val="DCE8F8"/>
                </a:solidFill>
                <a:latin typeface="Calibri" panose="020F0502020204030204" pitchFamily="34" charset="0"/>
              </a:rPr>
              <a:t>A Growth Partnership Proposal  -  Client Pitch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CFAD049-1E1F-1987-FF58-B7D85C28E767}"/>
              </a:ext>
            </a:extLst>
          </p:cNvPr>
          <p:cNvSpPr txBox="1"/>
          <p:nvPr/>
        </p:nvSpPr>
        <p:spPr>
          <a:xfrm>
            <a:off x="762000" y="5905500"/>
            <a:ext cx="63500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300" b="1">
                <a:solidFill>
                  <a:srgbClr val="FFFFFF"/>
                </a:solidFill>
                <a:latin typeface="Calibri" panose="020F0502020204030204" pitchFamily="34" charset="0"/>
              </a:rPr>
              <a:t>Prepared by Pratibha Mehta  |  Philips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D182F10-3ECC-71F5-7CC2-06ADCF9AA9FB}"/>
              </a:ext>
            </a:extLst>
          </p:cNvPr>
          <p:cNvSpPr txBox="1"/>
          <p:nvPr/>
        </p:nvSpPr>
        <p:spPr>
          <a:xfrm>
            <a:off x="8382000" y="5905500"/>
            <a:ext cx="30480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r"/>
            <a:r>
              <a:rPr lang="en-US" sz="1300">
                <a:solidFill>
                  <a:srgbClr val="DCE8F8"/>
                </a:solidFill>
                <a:latin typeface="Calibri" panose="020F0502020204030204" pitchFamily="34" charset="0"/>
              </a:rPr>
              <a:t>August 2026</a:t>
            </a:r>
          </a:p>
        </p:txBody>
      </p:sp>
    </p:spTree>
    <p:extLst>
      <p:ext uri="{BB962C8B-B14F-4D97-AF65-F5344CB8AC3E}">
        <p14:creationId xmlns:p14="http://schemas.microsoft.com/office/powerpoint/2010/main" val="26486200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C02138F-C0B3-F0C5-CBE1-C508DCFF7AB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BEA14C6-8C84-251E-3728-DD4593713A5C}"/>
              </a:ext>
            </a:extLst>
          </p:cNvPr>
          <p:cNvSpPr/>
          <p:nvPr/>
        </p:nvSpPr>
        <p:spPr>
          <a:xfrm>
            <a:off x="0" y="0"/>
            <a:ext cx="4318000" cy="6858000"/>
          </a:xfrm>
          <a:prstGeom prst="rect">
            <a:avLst/>
          </a:prstGeom>
          <a:solidFill>
            <a:srgbClr val="00153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C3005CE-DF0C-8DF6-0EE8-34E23465C0B9}"/>
              </a:ext>
            </a:extLst>
          </p:cNvPr>
          <p:cNvSpPr txBox="1"/>
          <p:nvPr/>
        </p:nvSpPr>
        <p:spPr>
          <a:xfrm>
            <a:off x="444500" y="698500"/>
            <a:ext cx="3302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200" b="1">
                <a:solidFill>
                  <a:srgbClr val="6FD1FF"/>
                </a:solidFill>
                <a:latin typeface="Calibri" panose="020F0502020204030204" pitchFamily="34" charset="0"/>
              </a:rPr>
              <a:t>MARKET SIGNAL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E4A4471-1E17-11BB-9E0B-3C4C2D280089}"/>
              </a:ext>
            </a:extLst>
          </p:cNvPr>
          <p:cNvSpPr txBox="1"/>
          <p:nvPr/>
        </p:nvSpPr>
        <p:spPr>
          <a:xfrm>
            <a:off x="381000" y="2413000"/>
            <a:ext cx="3556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6200" b="1">
                <a:solidFill>
                  <a:srgbClr val="FFFFFF"/>
                </a:solidFill>
                <a:latin typeface="Calibri" panose="020F0502020204030204" pitchFamily="34" charset="0"/>
              </a:rPr>
              <a:t>67%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D7ADE69-43C7-BBB2-1F90-3B090D2C9016}"/>
              </a:ext>
            </a:extLst>
          </p:cNvPr>
          <p:cNvSpPr txBox="1"/>
          <p:nvPr/>
        </p:nvSpPr>
        <p:spPr>
          <a:xfrm>
            <a:off x="406400" y="3683000"/>
            <a:ext cx="3429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400">
                <a:solidFill>
                  <a:srgbClr val="DCE8F8"/>
                </a:solidFill>
                <a:latin typeface="Calibri" panose="020F0502020204030204" pitchFamily="34" charset="0"/>
              </a:rPr>
              <a:t>of B2B buyers complete independent research before ever engaging a sales rep.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C57C479-C01F-B48A-C07E-C0C40030F1F4}"/>
              </a:ext>
            </a:extLst>
          </p:cNvPr>
          <p:cNvSpPr txBox="1"/>
          <p:nvPr/>
        </p:nvSpPr>
        <p:spPr>
          <a:xfrm>
            <a:off x="4826000" y="609600"/>
            <a:ext cx="635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3000" b="1">
                <a:solidFill>
                  <a:srgbClr val="001538"/>
                </a:solidFill>
                <a:latin typeface="Calibri" panose="020F0502020204030204" pitchFamily="34" charset="0"/>
              </a:rPr>
              <a:t>The Opportunity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1F2B0A7-F03C-E912-6A61-20877F4BEDE7}"/>
              </a:ext>
            </a:extLst>
          </p:cNvPr>
          <p:cNvSpPr/>
          <p:nvPr/>
        </p:nvSpPr>
        <p:spPr>
          <a:xfrm>
            <a:off x="4851400" y="1320800"/>
            <a:ext cx="762000" cy="50800"/>
          </a:xfrm>
          <a:prstGeom prst="rect">
            <a:avLst/>
          </a:prstGeom>
          <a:solidFill>
            <a:srgbClr val="0B5ED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B4E273A-4427-108A-4633-180A18CECAF2}"/>
              </a:ext>
            </a:extLst>
          </p:cNvPr>
          <p:cNvSpPr/>
          <p:nvPr/>
        </p:nvSpPr>
        <p:spPr>
          <a:xfrm>
            <a:off x="4826000" y="2032000"/>
            <a:ext cx="2095500" cy="3810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0E6EE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698D2D92-231A-9182-0DE2-1216CD0179FE}"/>
              </a:ext>
            </a:extLst>
          </p:cNvPr>
          <p:cNvSpPr/>
          <p:nvPr/>
        </p:nvSpPr>
        <p:spPr>
          <a:xfrm>
            <a:off x="5524500" y="2349500"/>
            <a:ext cx="698500" cy="698500"/>
          </a:xfrm>
          <a:prstGeom prst="ellipse">
            <a:avLst/>
          </a:prstGeom>
          <a:solidFill>
            <a:srgbClr val="0B5ED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0B84C4F-E54A-1E58-600A-92A4B785F17E}"/>
              </a:ext>
            </a:extLst>
          </p:cNvPr>
          <p:cNvSpPr txBox="1"/>
          <p:nvPr/>
        </p:nvSpPr>
        <p:spPr>
          <a:xfrm>
            <a:off x="5524500" y="2501900"/>
            <a:ext cx="6985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sz="2000" b="1">
                <a:solidFill>
                  <a:srgbClr val="FFFFFF"/>
                </a:solidFill>
                <a:latin typeface="Calibri" panose="020F0502020204030204" pitchFamily="34" charset="0"/>
              </a:rPr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60D5053-AAD5-1267-4849-10F7958A6280}"/>
              </a:ext>
            </a:extLst>
          </p:cNvPr>
          <p:cNvSpPr txBox="1"/>
          <p:nvPr/>
        </p:nvSpPr>
        <p:spPr>
          <a:xfrm>
            <a:off x="4826000" y="3276600"/>
            <a:ext cx="20955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sz="1400" b="1">
                <a:solidFill>
                  <a:srgbClr val="001538"/>
                </a:solidFill>
                <a:latin typeface="Calibri" panose="020F0502020204030204" pitchFamily="34" charset="0"/>
              </a:rPr>
              <a:t>Visibility Gap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FEF869C-0941-179A-7F26-EA3A13B6B2E3}"/>
              </a:ext>
            </a:extLst>
          </p:cNvPr>
          <p:cNvSpPr txBox="1"/>
          <p:nvPr/>
        </p:nvSpPr>
        <p:spPr>
          <a:xfrm>
            <a:off x="4978400" y="3873500"/>
            <a:ext cx="17907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sz="1100">
                <a:solidFill>
                  <a:srgbClr val="646E7D"/>
                </a:solidFill>
                <a:latin typeface="Calibri" panose="020F0502020204030204" pitchFamily="34" charset="0"/>
              </a:rPr>
              <a:t>Strong products, but brand presence trails category leaders online.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5F024FAC-9710-790A-BF21-AF326D37CCAF}"/>
              </a:ext>
            </a:extLst>
          </p:cNvPr>
          <p:cNvSpPr/>
          <p:nvPr/>
        </p:nvSpPr>
        <p:spPr>
          <a:xfrm>
            <a:off x="7175500" y="2032000"/>
            <a:ext cx="2095500" cy="3810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0E6EE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F519979E-3647-1F8B-CE54-5BB80F8EC30A}"/>
              </a:ext>
            </a:extLst>
          </p:cNvPr>
          <p:cNvSpPr/>
          <p:nvPr/>
        </p:nvSpPr>
        <p:spPr>
          <a:xfrm>
            <a:off x="7874000" y="2349500"/>
            <a:ext cx="698500" cy="698500"/>
          </a:xfrm>
          <a:prstGeom prst="ellipse">
            <a:avLst/>
          </a:prstGeom>
          <a:solidFill>
            <a:srgbClr val="0B5ED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CE25840-369A-6BB1-4215-87527077E9B5}"/>
              </a:ext>
            </a:extLst>
          </p:cNvPr>
          <p:cNvSpPr txBox="1"/>
          <p:nvPr/>
        </p:nvSpPr>
        <p:spPr>
          <a:xfrm>
            <a:off x="7874000" y="2501900"/>
            <a:ext cx="6985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sz="2000" b="1">
                <a:solidFill>
                  <a:srgbClr val="FFFFFF"/>
                </a:solidFill>
                <a:latin typeface="Calibri" panose="020F0502020204030204" pitchFamily="34" charset="0"/>
              </a:rPr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ED12315-83B7-B6A3-8B8F-78FD42303EE7}"/>
              </a:ext>
            </a:extLst>
          </p:cNvPr>
          <p:cNvSpPr txBox="1"/>
          <p:nvPr/>
        </p:nvSpPr>
        <p:spPr>
          <a:xfrm>
            <a:off x="7175500" y="3276600"/>
            <a:ext cx="20955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sz="1400" b="1">
                <a:solidFill>
                  <a:srgbClr val="001538"/>
                </a:solidFill>
                <a:latin typeface="Calibri" panose="020F0502020204030204" pitchFamily="34" charset="0"/>
              </a:rPr>
              <a:t>Rising Demand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9C24F7D-9E77-A63A-0187-667C52D826E1}"/>
              </a:ext>
            </a:extLst>
          </p:cNvPr>
          <p:cNvSpPr txBox="1"/>
          <p:nvPr/>
        </p:nvSpPr>
        <p:spPr>
          <a:xfrm>
            <a:off x="7327900" y="3873500"/>
            <a:ext cx="17907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sz="1100">
                <a:solidFill>
                  <a:srgbClr val="646E7D"/>
                </a:solidFill>
                <a:latin typeface="Calibri" panose="020F0502020204030204" pitchFamily="34" charset="0"/>
              </a:rPr>
              <a:t>Audience is shifting to digital-first discovery and decision-making.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A620C70D-3943-BAF6-B6BF-8EC768C52E8F}"/>
              </a:ext>
            </a:extLst>
          </p:cNvPr>
          <p:cNvSpPr/>
          <p:nvPr/>
        </p:nvSpPr>
        <p:spPr>
          <a:xfrm>
            <a:off x="9525000" y="2032000"/>
            <a:ext cx="2095500" cy="3810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0E6EE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D255C285-7D28-D51D-0AEC-22ADBC80096F}"/>
              </a:ext>
            </a:extLst>
          </p:cNvPr>
          <p:cNvSpPr/>
          <p:nvPr/>
        </p:nvSpPr>
        <p:spPr>
          <a:xfrm>
            <a:off x="10223500" y="2349500"/>
            <a:ext cx="698500" cy="698500"/>
          </a:xfrm>
          <a:prstGeom prst="ellipse">
            <a:avLst/>
          </a:prstGeom>
          <a:solidFill>
            <a:srgbClr val="0B5ED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387439A-066D-BAD6-17F5-57A902CA9765}"/>
              </a:ext>
            </a:extLst>
          </p:cNvPr>
          <p:cNvSpPr txBox="1"/>
          <p:nvPr/>
        </p:nvSpPr>
        <p:spPr>
          <a:xfrm>
            <a:off x="10223500" y="2501900"/>
            <a:ext cx="6985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sz="2000" b="1">
                <a:solidFill>
                  <a:srgbClr val="FFFFFF"/>
                </a:solidFill>
                <a:latin typeface="Calibri" panose="020F0502020204030204" pitchFamily="34" charset="0"/>
              </a:rPr>
              <a:t>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D4A69F8-043E-5427-B0CE-44F7BF9B837B}"/>
              </a:ext>
            </a:extLst>
          </p:cNvPr>
          <p:cNvSpPr txBox="1"/>
          <p:nvPr/>
        </p:nvSpPr>
        <p:spPr>
          <a:xfrm>
            <a:off x="9525000" y="3276600"/>
            <a:ext cx="20955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sz="1400" b="1">
                <a:solidFill>
                  <a:srgbClr val="001538"/>
                </a:solidFill>
                <a:latin typeface="Calibri" panose="020F0502020204030204" pitchFamily="34" charset="0"/>
              </a:rPr>
              <a:t>Competitive Pressure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C62023C-E049-5C9A-A5A0-9507CBCE6F8C}"/>
              </a:ext>
            </a:extLst>
          </p:cNvPr>
          <p:cNvSpPr txBox="1"/>
          <p:nvPr/>
        </p:nvSpPr>
        <p:spPr>
          <a:xfrm>
            <a:off x="9677400" y="3873500"/>
            <a:ext cx="17907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sz="1100">
                <a:solidFill>
                  <a:srgbClr val="646E7D"/>
                </a:solidFill>
                <a:latin typeface="Calibri" panose="020F0502020204030204" pitchFamily="34" charset="0"/>
              </a:rPr>
              <a:t>Rivals are winning mindshare through consistent, data-driven campaigns.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639805A-81DE-0B2F-EC1B-89A4D2EFB7C8}"/>
              </a:ext>
            </a:extLst>
          </p:cNvPr>
          <p:cNvSpPr txBox="1"/>
          <p:nvPr/>
        </p:nvSpPr>
        <p:spPr>
          <a:xfrm>
            <a:off x="9652000" y="6350000"/>
            <a:ext cx="2032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r"/>
            <a:r>
              <a:rPr lang="en-US" sz="1000" b="1">
                <a:solidFill>
                  <a:srgbClr val="646E7D"/>
                </a:solidFill>
                <a:latin typeface="Arial" panose="020B0604020202020204" pitchFamily="34" charset="0"/>
              </a:rPr>
              <a:t>P H I L I P 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1DAA13A-A47F-77D6-A44A-D4D299A9988E}"/>
              </a:ext>
            </a:extLst>
          </p:cNvPr>
          <p:cNvSpPr txBox="1"/>
          <p:nvPr/>
        </p:nvSpPr>
        <p:spPr>
          <a:xfrm>
            <a:off x="381000" y="6350000"/>
            <a:ext cx="762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000" b="1">
                <a:solidFill>
                  <a:srgbClr val="E0E6EE"/>
                </a:solidFill>
                <a:latin typeface="Calibri" panose="020F0502020204030204" pitchFamily="34" charset="0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42417745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E5F976B-D9BA-3FCB-9115-C451BAB8887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F52625F-77E2-CA90-1B8F-AC6C8FBCD578}"/>
              </a:ext>
            </a:extLst>
          </p:cNvPr>
          <p:cNvSpPr txBox="1"/>
          <p:nvPr/>
        </p:nvSpPr>
        <p:spPr>
          <a:xfrm>
            <a:off x="762000" y="571500"/>
            <a:ext cx="762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3000" b="1">
                <a:solidFill>
                  <a:srgbClr val="001538"/>
                </a:solidFill>
                <a:latin typeface="Calibri" panose="020F0502020204030204" pitchFamily="34" charset="0"/>
              </a:rPr>
              <a:t>Our Proposed Strategy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2EEB9EF-5396-57C8-65D4-606F6EC73F86}"/>
              </a:ext>
            </a:extLst>
          </p:cNvPr>
          <p:cNvSpPr/>
          <p:nvPr/>
        </p:nvSpPr>
        <p:spPr>
          <a:xfrm>
            <a:off x="787400" y="1282700"/>
            <a:ext cx="762000" cy="50800"/>
          </a:xfrm>
          <a:prstGeom prst="rect">
            <a:avLst/>
          </a:prstGeom>
          <a:solidFill>
            <a:srgbClr val="0B5ED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11D2EB3-01C9-11E6-567D-A26CBAFAA1E8}"/>
              </a:ext>
            </a:extLst>
          </p:cNvPr>
          <p:cNvSpPr/>
          <p:nvPr/>
        </p:nvSpPr>
        <p:spPr>
          <a:xfrm>
            <a:off x="762000" y="1905000"/>
            <a:ext cx="2476500" cy="4191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0E6EE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68A8D6B-5768-2F7D-969F-D5E368C56C6E}"/>
              </a:ext>
            </a:extLst>
          </p:cNvPr>
          <p:cNvSpPr/>
          <p:nvPr/>
        </p:nvSpPr>
        <p:spPr>
          <a:xfrm>
            <a:off x="762000" y="1905000"/>
            <a:ext cx="2476500" cy="889000"/>
          </a:xfrm>
          <a:prstGeom prst="roundRect">
            <a:avLst/>
          </a:prstGeom>
          <a:solidFill>
            <a:srgbClr val="0B5ED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7FECBFA-4D45-AE6B-D11C-EFF1F851BCBE}"/>
              </a:ext>
            </a:extLst>
          </p:cNvPr>
          <p:cNvSpPr/>
          <p:nvPr/>
        </p:nvSpPr>
        <p:spPr>
          <a:xfrm>
            <a:off x="762000" y="2476500"/>
            <a:ext cx="2476500" cy="317500"/>
          </a:xfrm>
          <a:prstGeom prst="rect">
            <a:avLst/>
          </a:prstGeom>
          <a:solidFill>
            <a:srgbClr val="0B5ED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246BCA8-348E-C792-99FF-5FF867B82B1B}"/>
              </a:ext>
            </a:extLst>
          </p:cNvPr>
          <p:cNvSpPr txBox="1"/>
          <p:nvPr/>
        </p:nvSpPr>
        <p:spPr>
          <a:xfrm>
            <a:off x="952500" y="2006600"/>
            <a:ext cx="127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2600" b="1">
                <a:solidFill>
                  <a:srgbClr val="FFFFFF"/>
                </a:solidFill>
                <a:latin typeface="Calibri" panose="020F0502020204030204" pitchFamily="34" charset="0"/>
              </a:rPr>
              <a:t>01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8F9FE49-3E91-0516-873C-EC8B5E7E462F}"/>
              </a:ext>
            </a:extLst>
          </p:cNvPr>
          <p:cNvSpPr/>
          <p:nvPr/>
        </p:nvSpPr>
        <p:spPr>
          <a:xfrm>
            <a:off x="1657350" y="2984500"/>
            <a:ext cx="685800" cy="685800"/>
          </a:xfrm>
          <a:prstGeom prst="ellipse">
            <a:avLst/>
          </a:prstGeom>
          <a:solidFill>
            <a:srgbClr val="F5F8F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107ED91-76FB-8061-7984-F3476A836C6C}"/>
              </a:ext>
            </a:extLst>
          </p:cNvPr>
          <p:cNvSpPr/>
          <p:nvPr/>
        </p:nvSpPr>
        <p:spPr>
          <a:xfrm>
            <a:off x="1657350" y="2984500"/>
            <a:ext cx="685800" cy="685800"/>
          </a:xfrm>
          <a:prstGeom prst="ellipse">
            <a:avLst/>
          </a:prstGeom>
          <a:noFill/>
          <a:ln w="28575" cap="flat" cmpd="sng" algn="ctr">
            <a:solidFill>
              <a:srgbClr val="0B5ED7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589E795-8259-BF4F-7675-6DDC9C2929D6}"/>
              </a:ext>
            </a:extLst>
          </p:cNvPr>
          <p:cNvSpPr txBox="1"/>
          <p:nvPr/>
        </p:nvSpPr>
        <p:spPr>
          <a:xfrm>
            <a:off x="889000" y="3873500"/>
            <a:ext cx="22225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sz="1400" b="1">
                <a:solidFill>
                  <a:srgbClr val="001538"/>
                </a:solidFill>
                <a:latin typeface="Calibri" panose="020F0502020204030204" pitchFamily="34" charset="0"/>
              </a:rPr>
              <a:t>Brand Positioning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16560B4-73B7-E71F-19E1-6866903E3431}"/>
              </a:ext>
            </a:extLst>
          </p:cNvPr>
          <p:cNvSpPr txBox="1"/>
          <p:nvPr/>
        </p:nvSpPr>
        <p:spPr>
          <a:xfrm>
            <a:off x="965200" y="4470400"/>
            <a:ext cx="20701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sz="1100">
                <a:solidFill>
                  <a:srgbClr val="646E7D"/>
                </a:solidFill>
                <a:latin typeface="Calibri" panose="020F0502020204030204" pitchFamily="34" charset="0"/>
              </a:rPr>
              <a:t>Sharpen the story and message across every touchpoint.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5F25D861-1B19-880A-E45C-F9F6D88D1D9C}"/>
              </a:ext>
            </a:extLst>
          </p:cNvPr>
          <p:cNvSpPr/>
          <p:nvPr/>
        </p:nvSpPr>
        <p:spPr>
          <a:xfrm>
            <a:off x="3429000" y="1905000"/>
            <a:ext cx="2476500" cy="4191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0E6EE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4386329B-302F-72A4-483F-A7AC70212E0A}"/>
              </a:ext>
            </a:extLst>
          </p:cNvPr>
          <p:cNvSpPr/>
          <p:nvPr/>
        </p:nvSpPr>
        <p:spPr>
          <a:xfrm>
            <a:off x="3429000" y="1905000"/>
            <a:ext cx="2476500" cy="889000"/>
          </a:xfrm>
          <a:prstGeom prst="roundRect">
            <a:avLst/>
          </a:prstGeom>
          <a:solidFill>
            <a:srgbClr val="1446A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178B8AD-85E1-3832-6594-F7D9371A6063}"/>
              </a:ext>
            </a:extLst>
          </p:cNvPr>
          <p:cNvSpPr/>
          <p:nvPr/>
        </p:nvSpPr>
        <p:spPr>
          <a:xfrm>
            <a:off x="3429000" y="2476500"/>
            <a:ext cx="2476500" cy="317500"/>
          </a:xfrm>
          <a:prstGeom prst="rect">
            <a:avLst/>
          </a:prstGeom>
          <a:solidFill>
            <a:srgbClr val="1446A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D442F1F-63BD-0B03-E95E-7E47B33718D2}"/>
              </a:ext>
            </a:extLst>
          </p:cNvPr>
          <p:cNvSpPr txBox="1"/>
          <p:nvPr/>
        </p:nvSpPr>
        <p:spPr>
          <a:xfrm>
            <a:off x="3619500" y="2006600"/>
            <a:ext cx="127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2600" b="1">
                <a:solidFill>
                  <a:srgbClr val="FFFFFF"/>
                </a:solidFill>
                <a:latin typeface="Calibri" panose="020F0502020204030204" pitchFamily="34" charset="0"/>
              </a:rPr>
              <a:t>02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71DC8C49-C33C-0FBE-2CB8-A9740DEC18B1}"/>
              </a:ext>
            </a:extLst>
          </p:cNvPr>
          <p:cNvSpPr/>
          <p:nvPr/>
        </p:nvSpPr>
        <p:spPr>
          <a:xfrm>
            <a:off x="4324350" y="2984500"/>
            <a:ext cx="685800" cy="685800"/>
          </a:xfrm>
          <a:prstGeom prst="ellipse">
            <a:avLst/>
          </a:prstGeom>
          <a:solidFill>
            <a:srgbClr val="F5F8F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EF0ED5C8-2946-56E2-7537-B1DEF0806B38}"/>
              </a:ext>
            </a:extLst>
          </p:cNvPr>
          <p:cNvSpPr/>
          <p:nvPr/>
        </p:nvSpPr>
        <p:spPr>
          <a:xfrm>
            <a:off x="4324350" y="2984500"/>
            <a:ext cx="685800" cy="685800"/>
          </a:xfrm>
          <a:prstGeom prst="ellipse">
            <a:avLst/>
          </a:prstGeom>
          <a:noFill/>
          <a:ln w="28575" cap="flat" cmpd="sng" algn="ctr">
            <a:solidFill>
              <a:srgbClr val="1446A0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51BD1DF-1106-5EBC-A6F7-F6628CF58A7B}"/>
              </a:ext>
            </a:extLst>
          </p:cNvPr>
          <p:cNvSpPr txBox="1"/>
          <p:nvPr/>
        </p:nvSpPr>
        <p:spPr>
          <a:xfrm>
            <a:off x="3556000" y="3873500"/>
            <a:ext cx="22225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sz="1400" b="1">
                <a:solidFill>
                  <a:srgbClr val="001538"/>
                </a:solidFill>
                <a:latin typeface="Calibri" panose="020F0502020204030204" pitchFamily="34" charset="0"/>
              </a:rPr>
              <a:t>Digital Reach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7B742E0-DBCD-B53D-6F6B-235BFEB3B307}"/>
              </a:ext>
            </a:extLst>
          </p:cNvPr>
          <p:cNvSpPr txBox="1"/>
          <p:nvPr/>
        </p:nvSpPr>
        <p:spPr>
          <a:xfrm>
            <a:off x="3632200" y="4470400"/>
            <a:ext cx="20701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sz="1100">
                <a:solidFill>
                  <a:srgbClr val="646E7D"/>
                </a:solidFill>
                <a:latin typeface="Calibri" panose="020F0502020204030204" pitchFamily="34" charset="0"/>
              </a:rPr>
              <a:t>SEO, paid social and content driving qualified traffic.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CCA9A753-75A7-12E5-9B5F-1757631781A4}"/>
              </a:ext>
            </a:extLst>
          </p:cNvPr>
          <p:cNvSpPr/>
          <p:nvPr/>
        </p:nvSpPr>
        <p:spPr>
          <a:xfrm>
            <a:off x="6096000" y="1905000"/>
            <a:ext cx="2476500" cy="4191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0E6EE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C040616E-07B0-2879-4D16-DE03F9C19659}"/>
              </a:ext>
            </a:extLst>
          </p:cNvPr>
          <p:cNvSpPr/>
          <p:nvPr/>
        </p:nvSpPr>
        <p:spPr>
          <a:xfrm>
            <a:off x="6096000" y="1905000"/>
            <a:ext cx="2476500" cy="889000"/>
          </a:xfrm>
          <a:prstGeom prst="roundRect">
            <a:avLst/>
          </a:prstGeom>
          <a:solidFill>
            <a:srgbClr val="3C82E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B78F2A2-E79F-3704-CC31-7AF532D90452}"/>
              </a:ext>
            </a:extLst>
          </p:cNvPr>
          <p:cNvSpPr/>
          <p:nvPr/>
        </p:nvSpPr>
        <p:spPr>
          <a:xfrm>
            <a:off x="6096000" y="2476500"/>
            <a:ext cx="2476500" cy="317500"/>
          </a:xfrm>
          <a:prstGeom prst="rect">
            <a:avLst/>
          </a:prstGeom>
          <a:solidFill>
            <a:srgbClr val="3C82E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2D6E7B7-CE58-5170-F4EA-C592A8678D87}"/>
              </a:ext>
            </a:extLst>
          </p:cNvPr>
          <p:cNvSpPr txBox="1"/>
          <p:nvPr/>
        </p:nvSpPr>
        <p:spPr>
          <a:xfrm>
            <a:off x="6286500" y="2006600"/>
            <a:ext cx="127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2600" b="1">
                <a:solidFill>
                  <a:srgbClr val="FFFFFF"/>
                </a:solidFill>
                <a:latin typeface="Calibri" panose="020F0502020204030204" pitchFamily="34" charset="0"/>
              </a:rPr>
              <a:t>03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05CA7296-C587-5809-A529-014AEA41117B}"/>
              </a:ext>
            </a:extLst>
          </p:cNvPr>
          <p:cNvSpPr/>
          <p:nvPr/>
        </p:nvSpPr>
        <p:spPr>
          <a:xfrm>
            <a:off x="6991350" y="2984500"/>
            <a:ext cx="685800" cy="685800"/>
          </a:xfrm>
          <a:prstGeom prst="ellipse">
            <a:avLst/>
          </a:prstGeom>
          <a:solidFill>
            <a:srgbClr val="F5F8F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AF2C5E2F-9D25-C3E0-634A-A733F5073847}"/>
              </a:ext>
            </a:extLst>
          </p:cNvPr>
          <p:cNvSpPr/>
          <p:nvPr/>
        </p:nvSpPr>
        <p:spPr>
          <a:xfrm>
            <a:off x="6991350" y="2984500"/>
            <a:ext cx="685800" cy="685800"/>
          </a:xfrm>
          <a:prstGeom prst="ellipse">
            <a:avLst/>
          </a:prstGeom>
          <a:noFill/>
          <a:ln w="28575" cap="flat" cmpd="sng" algn="ctr">
            <a:solidFill>
              <a:srgbClr val="3C82E6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7662A0E-270E-8631-65A8-6CBBC3D00C43}"/>
              </a:ext>
            </a:extLst>
          </p:cNvPr>
          <p:cNvSpPr txBox="1"/>
          <p:nvPr/>
        </p:nvSpPr>
        <p:spPr>
          <a:xfrm>
            <a:off x="6223000" y="3873500"/>
            <a:ext cx="22225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sz="1400" b="1">
                <a:solidFill>
                  <a:srgbClr val="001538"/>
                </a:solidFill>
                <a:latin typeface="Calibri" panose="020F0502020204030204" pitchFamily="34" charset="0"/>
              </a:rPr>
              <a:t>Customer Journey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28699FC-CCCC-DAEE-1516-3131FD764DF2}"/>
              </a:ext>
            </a:extLst>
          </p:cNvPr>
          <p:cNvSpPr txBox="1"/>
          <p:nvPr/>
        </p:nvSpPr>
        <p:spPr>
          <a:xfrm>
            <a:off x="6299200" y="4470400"/>
            <a:ext cx="20701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sz="1100">
                <a:solidFill>
                  <a:srgbClr val="646E7D"/>
                </a:solidFill>
                <a:latin typeface="Calibri" panose="020F0502020204030204" pitchFamily="34" charset="0"/>
              </a:rPr>
              <a:t>Nurture leads from awareness through to conversion.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512ED3C1-373F-73F9-FB08-DC6E808A87A8}"/>
              </a:ext>
            </a:extLst>
          </p:cNvPr>
          <p:cNvSpPr/>
          <p:nvPr/>
        </p:nvSpPr>
        <p:spPr>
          <a:xfrm>
            <a:off x="8763000" y="1905000"/>
            <a:ext cx="2476500" cy="4191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0E6EE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47AADD66-1602-4911-5132-79301A9D07CB}"/>
              </a:ext>
            </a:extLst>
          </p:cNvPr>
          <p:cNvSpPr/>
          <p:nvPr/>
        </p:nvSpPr>
        <p:spPr>
          <a:xfrm>
            <a:off x="8763000" y="1905000"/>
            <a:ext cx="2476500" cy="889000"/>
          </a:xfrm>
          <a:prstGeom prst="roundRect">
            <a:avLst/>
          </a:prstGeom>
          <a:solidFill>
            <a:srgbClr val="00286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481C68A-CEFB-C78D-2D2B-6ECE1A6990E7}"/>
              </a:ext>
            </a:extLst>
          </p:cNvPr>
          <p:cNvSpPr/>
          <p:nvPr/>
        </p:nvSpPr>
        <p:spPr>
          <a:xfrm>
            <a:off x="8763000" y="2476500"/>
            <a:ext cx="2476500" cy="317500"/>
          </a:xfrm>
          <a:prstGeom prst="rect">
            <a:avLst/>
          </a:prstGeom>
          <a:solidFill>
            <a:srgbClr val="00286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77BC01B-2ACB-373E-32DD-A713716E2645}"/>
              </a:ext>
            </a:extLst>
          </p:cNvPr>
          <p:cNvSpPr txBox="1"/>
          <p:nvPr/>
        </p:nvSpPr>
        <p:spPr>
          <a:xfrm>
            <a:off x="8953500" y="2006600"/>
            <a:ext cx="127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2600" b="1">
                <a:solidFill>
                  <a:srgbClr val="FFFFFF"/>
                </a:solidFill>
                <a:latin typeface="Calibri" panose="020F0502020204030204" pitchFamily="34" charset="0"/>
              </a:rPr>
              <a:t>04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430F3F3F-D6FE-7C5B-2352-BE441B43EC81}"/>
              </a:ext>
            </a:extLst>
          </p:cNvPr>
          <p:cNvSpPr/>
          <p:nvPr/>
        </p:nvSpPr>
        <p:spPr>
          <a:xfrm>
            <a:off x="9658350" y="2984500"/>
            <a:ext cx="685800" cy="685800"/>
          </a:xfrm>
          <a:prstGeom prst="ellipse">
            <a:avLst/>
          </a:prstGeom>
          <a:solidFill>
            <a:srgbClr val="F5F8F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3D757338-56D4-1EB8-4285-C19A2C774D9F}"/>
              </a:ext>
            </a:extLst>
          </p:cNvPr>
          <p:cNvSpPr/>
          <p:nvPr/>
        </p:nvSpPr>
        <p:spPr>
          <a:xfrm>
            <a:off x="9658350" y="2984500"/>
            <a:ext cx="685800" cy="685800"/>
          </a:xfrm>
          <a:prstGeom prst="ellipse">
            <a:avLst/>
          </a:prstGeom>
          <a:noFill/>
          <a:ln w="28575" cap="flat" cmpd="sng" algn="ctr">
            <a:solidFill>
              <a:srgbClr val="00286E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B37A43B-CE9F-23DF-D90A-77FD91F9628F}"/>
              </a:ext>
            </a:extLst>
          </p:cNvPr>
          <p:cNvSpPr txBox="1"/>
          <p:nvPr/>
        </p:nvSpPr>
        <p:spPr>
          <a:xfrm>
            <a:off x="8890000" y="3873500"/>
            <a:ext cx="22225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sz="1400" b="1">
                <a:solidFill>
                  <a:srgbClr val="001538"/>
                </a:solidFill>
                <a:latin typeface="Calibri" panose="020F0502020204030204" pitchFamily="34" charset="0"/>
              </a:rPr>
              <a:t>Data &amp; Insights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2CAF2B4-278C-AF11-55C2-4385EA808926}"/>
              </a:ext>
            </a:extLst>
          </p:cNvPr>
          <p:cNvSpPr txBox="1"/>
          <p:nvPr/>
        </p:nvSpPr>
        <p:spPr>
          <a:xfrm>
            <a:off x="8966200" y="4470400"/>
            <a:ext cx="20701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sz="1100">
                <a:solidFill>
                  <a:srgbClr val="646E7D"/>
                </a:solidFill>
                <a:latin typeface="Calibri" panose="020F0502020204030204" pitchFamily="34" charset="0"/>
              </a:rPr>
              <a:t>Continuous measurement to double down on what works.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DFDC293-D30E-D824-1157-6CA0065BA4C7}"/>
              </a:ext>
            </a:extLst>
          </p:cNvPr>
          <p:cNvSpPr txBox="1"/>
          <p:nvPr/>
        </p:nvSpPr>
        <p:spPr>
          <a:xfrm>
            <a:off x="9652000" y="6350000"/>
            <a:ext cx="2032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r"/>
            <a:r>
              <a:rPr lang="en-US" sz="1000" b="1">
                <a:solidFill>
                  <a:srgbClr val="646E7D"/>
                </a:solidFill>
                <a:latin typeface="Arial" panose="020B0604020202020204" pitchFamily="34" charset="0"/>
              </a:rPr>
              <a:t>P H I L I P S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D9F6610-BC8F-A7D5-D1BE-9FB62B568B5C}"/>
              </a:ext>
            </a:extLst>
          </p:cNvPr>
          <p:cNvSpPr txBox="1"/>
          <p:nvPr/>
        </p:nvSpPr>
        <p:spPr>
          <a:xfrm>
            <a:off x="381000" y="6350000"/>
            <a:ext cx="762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000" b="1">
                <a:solidFill>
                  <a:srgbClr val="E0E6EE"/>
                </a:solidFill>
                <a:latin typeface="Calibri" panose="020F0502020204030204" pitchFamily="34" charset="0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33194016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0CFFE0F-E9D4-60D0-4CD2-29BFE85ED08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3FD6AA6-495B-6BD4-D051-DC46344A4FFB}"/>
              </a:ext>
            </a:extLst>
          </p:cNvPr>
          <p:cNvSpPr txBox="1"/>
          <p:nvPr/>
        </p:nvSpPr>
        <p:spPr>
          <a:xfrm>
            <a:off x="762000" y="508000"/>
            <a:ext cx="762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3000" b="1">
                <a:solidFill>
                  <a:srgbClr val="001538"/>
                </a:solidFill>
                <a:latin typeface="Calibri" panose="020F0502020204030204" pitchFamily="34" charset="0"/>
              </a:rPr>
              <a:t>Execution Roadmap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47CDCDF-E32B-D78F-94D9-8F94F69F5BFD}"/>
              </a:ext>
            </a:extLst>
          </p:cNvPr>
          <p:cNvSpPr/>
          <p:nvPr/>
        </p:nvSpPr>
        <p:spPr>
          <a:xfrm>
            <a:off x="787400" y="1219200"/>
            <a:ext cx="762000" cy="50800"/>
          </a:xfrm>
          <a:prstGeom prst="rect">
            <a:avLst/>
          </a:prstGeom>
          <a:solidFill>
            <a:srgbClr val="0B5ED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8F542DB-CC16-405A-A518-33505CBB80A0}"/>
              </a:ext>
            </a:extLst>
          </p:cNvPr>
          <p:cNvSpPr/>
          <p:nvPr/>
        </p:nvSpPr>
        <p:spPr>
          <a:xfrm>
            <a:off x="1143000" y="2768600"/>
            <a:ext cx="9906000" cy="38100"/>
          </a:xfrm>
          <a:prstGeom prst="rect">
            <a:avLst/>
          </a:prstGeom>
          <a:solidFill>
            <a:srgbClr val="E0E6E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E07A303-1DEA-7851-C6EC-018CA28C656D}"/>
              </a:ext>
            </a:extLst>
          </p:cNvPr>
          <p:cNvSpPr txBox="1"/>
          <p:nvPr/>
        </p:nvSpPr>
        <p:spPr>
          <a:xfrm>
            <a:off x="762000" y="1841500"/>
            <a:ext cx="254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sz="1300" b="1">
                <a:solidFill>
                  <a:srgbClr val="001538"/>
                </a:solidFill>
                <a:latin typeface="Calibri" panose="020F0502020204030204" pitchFamily="34" charset="0"/>
              </a:rPr>
              <a:t>Discovery &amp; Strategy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364C18C-0F6B-EE3B-B7F1-DFB4E9518A9A}"/>
              </a:ext>
            </a:extLst>
          </p:cNvPr>
          <p:cNvSpPr/>
          <p:nvPr/>
        </p:nvSpPr>
        <p:spPr>
          <a:xfrm>
            <a:off x="1498600" y="2501900"/>
            <a:ext cx="558800" cy="558800"/>
          </a:xfrm>
          <a:prstGeom prst="ellipse">
            <a:avLst/>
          </a:prstGeom>
          <a:solidFill>
            <a:srgbClr val="0B5ED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9F63181-CC68-BDBA-50E4-338048E2F3A6}"/>
              </a:ext>
            </a:extLst>
          </p:cNvPr>
          <p:cNvSpPr txBox="1"/>
          <p:nvPr/>
        </p:nvSpPr>
        <p:spPr>
          <a:xfrm>
            <a:off x="1498600" y="2628900"/>
            <a:ext cx="5588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sz="1600" b="1">
                <a:solidFill>
                  <a:srgbClr val="FFFFFF"/>
                </a:solidFill>
                <a:latin typeface="Calibri" panose="020F0502020204030204" pitchFamily="34" charset="0"/>
              </a:rPr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DF788E3-21C3-A906-2938-5CCD7C455600}"/>
              </a:ext>
            </a:extLst>
          </p:cNvPr>
          <p:cNvSpPr txBox="1"/>
          <p:nvPr/>
        </p:nvSpPr>
        <p:spPr>
          <a:xfrm>
            <a:off x="762000" y="3175000"/>
            <a:ext cx="25400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sz="1200">
                <a:solidFill>
                  <a:srgbClr val="646E7D"/>
                </a:solidFill>
                <a:latin typeface="Calibri" panose="020F0502020204030204" pitchFamily="34" charset="0"/>
              </a:rPr>
              <a:t>Weeks 1-2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37F2D0B-46EF-2846-6AD3-B5E296170BBB}"/>
              </a:ext>
            </a:extLst>
          </p:cNvPr>
          <p:cNvSpPr txBox="1"/>
          <p:nvPr/>
        </p:nvSpPr>
        <p:spPr>
          <a:xfrm>
            <a:off x="3302000" y="1841500"/>
            <a:ext cx="254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sz="1300" b="1">
                <a:solidFill>
                  <a:srgbClr val="001538"/>
                </a:solidFill>
                <a:latin typeface="Calibri" panose="020F0502020204030204" pitchFamily="34" charset="0"/>
              </a:rPr>
              <a:t>Campaign Build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385B497C-ADA6-D5C5-C3AB-A743648FE630}"/>
              </a:ext>
            </a:extLst>
          </p:cNvPr>
          <p:cNvSpPr/>
          <p:nvPr/>
        </p:nvSpPr>
        <p:spPr>
          <a:xfrm>
            <a:off x="4038600" y="2501900"/>
            <a:ext cx="558800" cy="558800"/>
          </a:xfrm>
          <a:prstGeom prst="ellipse">
            <a:avLst/>
          </a:prstGeom>
          <a:solidFill>
            <a:srgbClr val="0B5ED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5EAAA7B-AFCF-84DF-DA45-FE26D0FE3459}"/>
              </a:ext>
            </a:extLst>
          </p:cNvPr>
          <p:cNvSpPr txBox="1"/>
          <p:nvPr/>
        </p:nvSpPr>
        <p:spPr>
          <a:xfrm>
            <a:off x="4038600" y="2628900"/>
            <a:ext cx="5588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sz="1600" b="1">
                <a:solidFill>
                  <a:srgbClr val="FFFFFF"/>
                </a:solidFill>
                <a:latin typeface="Calibri" panose="020F0502020204030204" pitchFamily="34" charset="0"/>
              </a:rPr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9A80988-579F-5DCF-64DE-A22881B5FC96}"/>
              </a:ext>
            </a:extLst>
          </p:cNvPr>
          <p:cNvSpPr txBox="1"/>
          <p:nvPr/>
        </p:nvSpPr>
        <p:spPr>
          <a:xfrm>
            <a:off x="3302000" y="3175000"/>
            <a:ext cx="25400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sz="1200">
                <a:solidFill>
                  <a:srgbClr val="646E7D"/>
                </a:solidFill>
                <a:latin typeface="Calibri" panose="020F0502020204030204" pitchFamily="34" charset="0"/>
              </a:rPr>
              <a:t>Weeks 3-6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C8E3A00-8BCC-AA5A-1CC5-5920534283FF}"/>
              </a:ext>
            </a:extLst>
          </p:cNvPr>
          <p:cNvSpPr txBox="1"/>
          <p:nvPr/>
        </p:nvSpPr>
        <p:spPr>
          <a:xfrm>
            <a:off x="5842000" y="1841500"/>
            <a:ext cx="254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sz="1300" b="1">
                <a:solidFill>
                  <a:srgbClr val="001538"/>
                </a:solidFill>
                <a:latin typeface="Calibri" panose="020F0502020204030204" pitchFamily="34" charset="0"/>
              </a:rPr>
              <a:t>Launch &amp; Optimize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5A458F48-79F4-A8E1-9E34-4E01EEEB84FA}"/>
              </a:ext>
            </a:extLst>
          </p:cNvPr>
          <p:cNvSpPr/>
          <p:nvPr/>
        </p:nvSpPr>
        <p:spPr>
          <a:xfrm>
            <a:off x="6578600" y="2501900"/>
            <a:ext cx="558800" cy="558800"/>
          </a:xfrm>
          <a:prstGeom prst="ellipse">
            <a:avLst/>
          </a:prstGeom>
          <a:solidFill>
            <a:srgbClr val="0B5ED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74E3B5F-2151-01C1-358E-454A1F652E57}"/>
              </a:ext>
            </a:extLst>
          </p:cNvPr>
          <p:cNvSpPr txBox="1"/>
          <p:nvPr/>
        </p:nvSpPr>
        <p:spPr>
          <a:xfrm>
            <a:off x="6578600" y="2628900"/>
            <a:ext cx="5588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sz="1600" b="1">
                <a:solidFill>
                  <a:srgbClr val="FFFFFF"/>
                </a:solidFill>
                <a:latin typeface="Calibri" panose="020F0502020204030204" pitchFamily="34" charset="0"/>
              </a:rPr>
              <a:t>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4E0CDD4-68F6-310D-B947-641FF817A725}"/>
              </a:ext>
            </a:extLst>
          </p:cNvPr>
          <p:cNvSpPr txBox="1"/>
          <p:nvPr/>
        </p:nvSpPr>
        <p:spPr>
          <a:xfrm>
            <a:off x="5842000" y="3175000"/>
            <a:ext cx="25400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sz="1200">
                <a:solidFill>
                  <a:srgbClr val="646E7D"/>
                </a:solidFill>
                <a:latin typeface="Calibri" panose="020F0502020204030204" pitchFamily="34" charset="0"/>
              </a:rPr>
              <a:t>Weeks 7-10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8114988-A483-7ADB-922B-061DB7166966}"/>
              </a:ext>
            </a:extLst>
          </p:cNvPr>
          <p:cNvSpPr txBox="1"/>
          <p:nvPr/>
        </p:nvSpPr>
        <p:spPr>
          <a:xfrm>
            <a:off x="8382000" y="1841500"/>
            <a:ext cx="254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sz="1300" b="1">
                <a:solidFill>
                  <a:srgbClr val="001538"/>
                </a:solidFill>
                <a:latin typeface="Calibri" panose="020F0502020204030204" pitchFamily="34" charset="0"/>
              </a:rPr>
              <a:t>Scale &amp; Report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4279DF9C-3C2C-5769-8EA1-8C5054C078A1}"/>
              </a:ext>
            </a:extLst>
          </p:cNvPr>
          <p:cNvSpPr/>
          <p:nvPr/>
        </p:nvSpPr>
        <p:spPr>
          <a:xfrm>
            <a:off x="9118600" y="2501900"/>
            <a:ext cx="558800" cy="558800"/>
          </a:xfrm>
          <a:prstGeom prst="ellipse">
            <a:avLst/>
          </a:prstGeom>
          <a:solidFill>
            <a:srgbClr val="0B5ED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C1B8CB0-507D-B293-BF38-9EF072C69C15}"/>
              </a:ext>
            </a:extLst>
          </p:cNvPr>
          <p:cNvSpPr txBox="1"/>
          <p:nvPr/>
        </p:nvSpPr>
        <p:spPr>
          <a:xfrm>
            <a:off x="9118600" y="2628900"/>
            <a:ext cx="5588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sz="1600" b="1">
                <a:solidFill>
                  <a:srgbClr val="FFFFFF"/>
                </a:solidFill>
                <a:latin typeface="Calibri" panose="020F0502020204030204" pitchFamily="34" charset="0"/>
              </a:rPr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118624C-FC37-14C3-78B8-1BC9E14DA65A}"/>
              </a:ext>
            </a:extLst>
          </p:cNvPr>
          <p:cNvSpPr txBox="1"/>
          <p:nvPr/>
        </p:nvSpPr>
        <p:spPr>
          <a:xfrm>
            <a:off x="8382000" y="3175000"/>
            <a:ext cx="25400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sz="1200">
                <a:solidFill>
                  <a:srgbClr val="646E7D"/>
                </a:solidFill>
                <a:latin typeface="Calibri" panose="020F0502020204030204" pitchFamily="34" charset="0"/>
              </a:rPr>
              <a:t>Week 11+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DF09DAE-FBBE-DF84-EFDA-F4B81BA7A51A}"/>
              </a:ext>
            </a:extLst>
          </p:cNvPr>
          <p:cNvSpPr txBox="1"/>
          <p:nvPr/>
        </p:nvSpPr>
        <p:spPr>
          <a:xfrm>
            <a:off x="1143000" y="4191000"/>
            <a:ext cx="508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300" b="1">
                <a:solidFill>
                  <a:srgbClr val="001538"/>
                </a:solidFill>
                <a:latin typeface="Calibri" panose="020F0502020204030204" pitchFamily="34" charset="0"/>
              </a:rPr>
              <a:t>Projected Pipeline Value ()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17CF6E2D-B399-1E14-74E8-603EEC9FDA6A}"/>
              </a:ext>
            </a:extLst>
          </p:cNvPr>
          <p:cNvSpPr/>
          <p:nvPr/>
        </p:nvSpPr>
        <p:spPr>
          <a:xfrm>
            <a:off x="1524000" y="6134100"/>
            <a:ext cx="1397000" cy="279400"/>
          </a:xfrm>
          <a:prstGeom prst="roundRect">
            <a:avLst/>
          </a:prstGeom>
          <a:solidFill>
            <a:srgbClr val="0B5ED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2D7A5D2-9209-DDE4-77FD-BC55A7ECF940}"/>
              </a:ext>
            </a:extLst>
          </p:cNvPr>
          <p:cNvSpPr txBox="1"/>
          <p:nvPr/>
        </p:nvSpPr>
        <p:spPr>
          <a:xfrm>
            <a:off x="1524000" y="5803900"/>
            <a:ext cx="1397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sz="1300" b="1">
                <a:solidFill>
                  <a:srgbClr val="001538"/>
                </a:solidFill>
                <a:latin typeface="Calibri" panose="020F0502020204030204" pitchFamily="34" charset="0"/>
              </a:rPr>
              <a:t>$20K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B6D4E2D-754A-D20B-CD57-CC85E0E1BFAE}"/>
              </a:ext>
            </a:extLst>
          </p:cNvPr>
          <p:cNvSpPr txBox="1"/>
          <p:nvPr/>
        </p:nvSpPr>
        <p:spPr>
          <a:xfrm>
            <a:off x="1524000" y="6489700"/>
            <a:ext cx="1397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sz="1100">
                <a:solidFill>
                  <a:srgbClr val="646E7D"/>
                </a:solidFill>
                <a:latin typeface="Calibri" panose="020F0502020204030204" pitchFamily="34" charset="0"/>
              </a:rPr>
              <a:t>Discovery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CAD05A0F-ED7E-43DF-EB0B-1124FE8D675E}"/>
              </a:ext>
            </a:extLst>
          </p:cNvPr>
          <p:cNvSpPr/>
          <p:nvPr/>
        </p:nvSpPr>
        <p:spPr>
          <a:xfrm>
            <a:off x="3429000" y="5791200"/>
            <a:ext cx="1397000" cy="622300"/>
          </a:xfrm>
          <a:prstGeom prst="roundRect">
            <a:avLst/>
          </a:prstGeom>
          <a:solidFill>
            <a:srgbClr val="1446A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F8AAD5B-37AA-5462-4527-2BC8BC9CD1DA}"/>
              </a:ext>
            </a:extLst>
          </p:cNvPr>
          <p:cNvSpPr txBox="1"/>
          <p:nvPr/>
        </p:nvSpPr>
        <p:spPr>
          <a:xfrm>
            <a:off x="3429000" y="5461000"/>
            <a:ext cx="1397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sz="1300" b="1">
                <a:solidFill>
                  <a:srgbClr val="001538"/>
                </a:solidFill>
                <a:latin typeface="Calibri" panose="020F0502020204030204" pitchFamily="34" charset="0"/>
              </a:rPr>
              <a:t>$45K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D9CF336-B396-E3ED-2481-D96B458E1FD3}"/>
              </a:ext>
            </a:extLst>
          </p:cNvPr>
          <p:cNvSpPr txBox="1"/>
          <p:nvPr/>
        </p:nvSpPr>
        <p:spPr>
          <a:xfrm>
            <a:off x="3429000" y="6489700"/>
            <a:ext cx="1397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sz="1100">
                <a:solidFill>
                  <a:srgbClr val="646E7D"/>
                </a:solidFill>
                <a:latin typeface="Calibri" panose="020F0502020204030204" pitchFamily="34" charset="0"/>
              </a:rPr>
              <a:t>Build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60306229-F15C-7F36-1852-5A2C2E27B88E}"/>
              </a:ext>
            </a:extLst>
          </p:cNvPr>
          <p:cNvSpPr/>
          <p:nvPr/>
        </p:nvSpPr>
        <p:spPr>
          <a:xfrm>
            <a:off x="5334000" y="5384800"/>
            <a:ext cx="1397000" cy="1028700"/>
          </a:xfrm>
          <a:prstGeom prst="roundRect">
            <a:avLst/>
          </a:prstGeom>
          <a:solidFill>
            <a:srgbClr val="3C82E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C7FC022-8853-D3F2-F3BC-1C7D958A2DA6}"/>
              </a:ext>
            </a:extLst>
          </p:cNvPr>
          <p:cNvSpPr txBox="1"/>
          <p:nvPr/>
        </p:nvSpPr>
        <p:spPr>
          <a:xfrm>
            <a:off x="5334000" y="5054600"/>
            <a:ext cx="1397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sz="1300" b="1">
                <a:solidFill>
                  <a:srgbClr val="001538"/>
                </a:solidFill>
                <a:latin typeface="Calibri" panose="020F0502020204030204" pitchFamily="34" charset="0"/>
              </a:rPr>
              <a:t>$75K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DCA993E-4FD7-2DCC-4F44-031CDEE94681}"/>
              </a:ext>
            </a:extLst>
          </p:cNvPr>
          <p:cNvSpPr txBox="1"/>
          <p:nvPr/>
        </p:nvSpPr>
        <p:spPr>
          <a:xfrm>
            <a:off x="5334000" y="6489700"/>
            <a:ext cx="1397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sz="1100">
                <a:solidFill>
                  <a:srgbClr val="646E7D"/>
                </a:solidFill>
                <a:latin typeface="Calibri" panose="020F0502020204030204" pitchFamily="34" charset="0"/>
              </a:rPr>
              <a:t>Launch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39603CE1-2FDD-03C1-22EA-0B4615630F76}"/>
              </a:ext>
            </a:extLst>
          </p:cNvPr>
          <p:cNvSpPr/>
          <p:nvPr/>
        </p:nvSpPr>
        <p:spPr>
          <a:xfrm>
            <a:off x="7239000" y="4762500"/>
            <a:ext cx="1397000" cy="1651000"/>
          </a:xfrm>
          <a:prstGeom prst="roundRect">
            <a:avLst/>
          </a:prstGeom>
          <a:solidFill>
            <a:srgbClr val="00286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FED7C7A-6765-0DDD-A495-47D0C8F38675}"/>
              </a:ext>
            </a:extLst>
          </p:cNvPr>
          <p:cNvSpPr txBox="1"/>
          <p:nvPr/>
        </p:nvSpPr>
        <p:spPr>
          <a:xfrm>
            <a:off x="7239000" y="4432300"/>
            <a:ext cx="1397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sz="1300" b="1">
                <a:solidFill>
                  <a:srgbClr val="001538"/>
                </a:solidFill>
                <a:latin typeface="Calibri" panose="020F0502020204030204" pitchFamily="34" charset="0"/>
              </a:rPr>
              <a:t>$120K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6E0BB2E-E2AC-A5E2-BC63-724BCC2B8AC1}"/>
              </a:ext>
            </a:extLst>
          </p:cNvPr>
          <p:cNvSpPr txBox="1"/>
          <p:nvPr/>
        </p:nvSpPr>
        <p:spPr>
          <a:xfrm>
            <a:off x="7239000" y="6489700"/>
            <a:ext cx="1397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sz="1100">
                <a:solidFill>
                  <a:srgbClr val="646E7D"/>
                </a:solidFill>
                <a:latin typeface="Calibri" panose="020F0502020204030204" pitchFamily="34" charset="0"/>
              </a:rPr>
              <a:t>Scale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919A92B-4368-8FCF-2AE8-2C9B71BF4F26}"/>
              </a:ext>
            </a:extLst>
          </p:cNvPr>
          <p:cNvSpPr txBox="1"/>
          <p:nvPr/>
        </p:nvSpPr>
        <p:spPr>
          <a:xfrm>
            <a:off x="9652000" y="6350000"/>
            <a:ext cx="2032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r"/>
            <a:r>
              <a:rPr lang="en-US" sz="1000" b="1">
                <a:solidFill>
                  <a:srgbClr val="646E7D"/>
                </a:solidFill>
                <a:latin typeface="Arial" panose="020B0604020202020204" pitchFamily="34" charset="0"/>
              </a:rPr>
              <a:t>P H I L I P S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95824E6-BC7F-AACA-D777-772EE08212A3}"/>
              </a:ext>
            </a:extLst>
          </p:cNvPr>
          <p:cNvSpPr txBox="1"/>
          <p:nvPr/>
        </p:nvSpPr>
        <p:spPr>
          <a:xfrm>
            <a:off x="381000" y="6350000"/>
            <a:ext cx="762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000" b="1">
                <a:solidFill>
                  <a:srgbClr val="E0E6EE"/>
                </a:solidFill>
                <a:latin typeface="Calibri" panose="020F0502020204030204" pitchFamily="34" charset="0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6202038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AB5E4B7-54AD-6A8D-8EEE-4CD6A65AEE56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093D1E9-9642-2E05-CF07-62C4C823C914}"/>
              </a:ext>
            </a:extLst>
          </p:cNvPr>
          <p:cNvSpPr txBox="1"/>
          <p:nvPr/>
        </p:nvSpPr>
        <p:spPr>
          <a:xfrm>
            <a:off x="762000" y="571500"/>
            <a:ext cx="889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3200" b="1">
                <a:solidFill>
                  <a:srgbClr val="FFFFFF"/>
                </a:solidFill>
                <a:latin typeface="Calibri" panose="020F0502020204030204" pitchFamily="34" charset="0"/>
              </a:rPr>
              <a:t>Why Partner With Us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C395F43-B356-86B9-772F-941391C10CE3}"/>
              </a:ext>
            </a:extLst>
          </p:cNvPr>
          <p:cNvSpPr/>
          <p:nvPr/>
        </p:nvSpPr>
        <p:spPr>
          <a:xfrm>
            <a:off x="787400" y="1320800"/>
            <a:ext cx="762000" cy="50800"/>
          </a:xfrm>
          <a:prstGeom prst="rect">
            <a:avLst/>
          </a:prstGeom>
          <a:solidFill>
            <a:srgbClr val="6FD1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BEC2AD5-BBDD-F40E-F8DE-6946DC3688C6}"/>
              </a:ext>
            </a:extLst>
          </p:cNvPr>
          <p:cNvSpPr txBox="1"/>
          <p:nvPr/>
        </p:nvSpPr>
        <p:spPr>
          <a:xfrm>
            <a:off x="1143000" y="2413000"/>
            <a:ext cx="2794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sz="4800" b="1">
                <a:solidFill>
                  <a:srgbClr val="FFFFFF"/>
                </a:solidFill>
                <a:latin typeface="Calibri" panose="020F0502020204030204" pitchFamily="34" charset="0"/>
              </a:rPr>
              <a:t>3x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F10E8E0-F50D-7B2D-ECCA-7070E42B79A5}"/>
              </a:ext>
            </a:extLst>
          </p:cNvPr>
          <p:cNvSpPr txBox="1"/>
          <p:nvPr/>
        </p:nvSpPr>
        <p:spPr>
          <a:xfrm>
            <a:off x="1143000" y="3365500"/>
            <a:ext cx="2794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sz="1300">
                <a:solidFill>
                  <a:srgbClr val="DCE8F8"/>
                </a:solidFill>
                <a:latin typeface="Calibri" panose="020F0502020204030204" pitchFamily="34" charset="0"/>
              </a:rPr>
              <a:t>Average ROI Improvement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28458F8-10BB-6AB9-95F0-6E9631C32B3E}"/>
              </a:ext>
            </a:extLst>
          </p:cNvPr>
          <p:cNvSpPr/>
          <p:nvPr/>
        </p:nvSpPr>
        <p:spPr>
          <a:xfrm>
            <a:off x="4127500" y="2540000"/>
            <a:ext cx="25400" cy="1143000"/>
          </a:xfrm>
          <a:prstGeom prst="rect">
            <a:avLst/>
          </a:prstGeom>
          <a:solidFill>
            <a:srgbClr val="DCE8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E78946-3763-F36D-A253-FEB073354C45}"/>
              </a:ext>
            </a:extLst>
          </p:cNvPr>
          <p:cNvSpPr txBox="1"/>
          <p:nvPr/>
        </p:nvSpPr>
        <p:spPr>
          <a:xfrm>
            <a:off x="4699000" y="2413000"/>
            <a:ext cx="2794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sz="4800" b="1">
                <a:solidFill>
                  <a:srgbClr val="FFFFFF"/>
                </a:solidFill>
                <a:latin typeface="Calibri" panose="020F0502020204030204" pitchFamily="34" charset="0"/>
              </a:rPr>
              <a:t>10+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16D4B3D-2DD4-F392-44BC-94718A7A7BD4}"/>
              </a:ext>
            </a:extLst>
          </p:cNvPr>
          <p:cNvSpPr txBox="1"/>
          <p:nvPr/>
        </p:nvSpPr>
        <p:spPr>
          <a:xfrm>
            <a:off x="4699000" y="3365500"/>
            <a:ext cx="2794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sz="1300">
                <a:solidFill>
                  <a:srgbClr val="DCE8F8"/>
                </a:solidFill>
                <a:latin typeface="Calibri" panose="020F0502020204030204" pitchFamily="34" charset="0"/>
              </a:rPr>
              <a:t>Years of Marketing Expertise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4A5E15F-B48F-92DC-3C2F-0E6160789E5A}"/>
              </a:ext>
            </a:extLst>
          </p:cNvPr>
          <p:cNvSpPr/>
          <p:nvPr/>
        </p:nvSpPr>
        <p:spPr>
          <a:xfrm>
            <a:off x="7683500" y="2540000"/>
            <a:ext cx="25400" cy="1143000"/>
          </a:xfrm>
          <a:prstGeom prst="rect">
            <a:avLst/>
          </a:prstGeom>
          <a:solidFill>
            <a:srgbClr val="DCE8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27980E5-1D00-67EB-9361-60F0910BDC4C}"/>
              </a:ext>
            </a:extLst>
          </p:cNvPr>
          <p:cNvSpPr txBox="1"/>
          <p:nvPr/>
        </p:nvSpPr>
        <p:spPr>
          <a:xfrm>
            <a:off x="8255000" y="2413000"/>
            <a:ext cx="2794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sz="4800" b="1">
                <a:solidFill>
                  <a:srgbClr val="FFFFFF"/>
                </a:solidFill>
                <a:latin typeface="Calibri" panose="020F0502020204030204" pitchFamily="34" charset="0"/>
              </a:rPr>
              <a:t>98%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1F333BF-DF68-2678-C2FB-DD00EBB6531A}"/>
              </a:ext>
            </a:extLst>
          </p:cNvPr>
          <p:cNvSpPr txBox="1"/>
          <p:nvPr/>
        </p:nvSpPr>
        <p:spPr>
          <a:xfrm>
            <a:off x="8255000" y="3365500"/>
            <a:ext cx="2794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sz="1300">
                <a:solidFill>
                  <a:srgbClr val="DCE8F8"/>
                </a:solidFill>
                <a:latin typeface="Calibri" panose="020F0502020204030204" pitchFamily="34" charset="0"/>
              </a:rPr>
              <a:t>Client Retention Rate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EEDB896E-A082-13CA-9704-C39F2DD854CD}"/>
              </a:ext>
            </a:extLst>
          </p:cNvPr>
          <p:cNvSpPr/>
          <p:nvPr/>
        </p:nvSpPr>
        <p:spPr>
          <a:xfrm>
            <a:off x="1968500" y="5080000"/>
            <a:ext cx="8255000" cy="12700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F820C10-AE41-D59D-63B9-200B6A793ABE}"/>
              </a:ext>
            </a:extLst>
          </p:cNvPr>
          <p:cNvSpPr txBox="1"/>
          <p:nvPr/>
        </p:nvSpPr>
        <p:spPr>
          <a:xfrm>
            <a:off x="2222500" y="5270500"/>
            <a:ext cx="7747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sz="2000" b="1">
                <a:solidFill>
                  <a:srgbClr val="001538"/>
                </a:solidFill>
                <a:latin typeface="Calibri" panose="020F0502020204030204" pitchFamily="34" charset="0"/>
              </a:rPr>
              <a:t>Next Step: A 30-Minute Kickoff Call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FF21ECA-674F-F965-9C7E-40DD95459D31}"/>
              </a:ext>
            </a:extLst>
          </p:cNvPr>
          <p:cNvSpPr txBox="1"/>
          <p:nvPr/>
        </p:nvSpPr>
        <p:spPr>
          <a:xfrm>
            <a:off x="2222500" y="5816600"/>
            <a:ext cx="7747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sv-SE" sz="1200">
                <a:solidFill>
                  <a:srgbClr val="646E7D"/>
                </a:solidFill>
                <a:latin typeface="Calibri" panose="020F0502020204030204" pitchFamily="34" charset="0"/>
              </a:rPr>
              <a:t>Pratibha Mehta   |   Pratibha.Mehta@philips.com</a:t>
            </a:r>
            <a:endParaRPr lang="en-US" sz="1200">
              <a:solidFill>
                <a:srgbClr val="646E7D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2546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239</Words>
  <Application>Microsoft Office PowerPoint</Application>
  <PresentationFormat>Custom</PresentationFormat>
  <Paragraphs>68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Philips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Mehta, Pratibha</dc:creator>
  <cp:lastModifiedBy>Mehta, Pratibha</cp:lastModifiedBy>
  <cp:revision>1</cp:revision>
  <dcterms:created xsi:type="dcterms:W3CDTF">2026-08-28T06:04:05Z</dcterms:created>
  <dcterms:modified xsi:type="dcterms:W3CDTF">2026-08-28T06:04:08Z</dcterms:modified>
</cp:coreProperties>
</file>