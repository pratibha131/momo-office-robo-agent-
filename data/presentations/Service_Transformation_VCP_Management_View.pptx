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  <p:sldMasterId id="2147483651" r:id="rId6"/>
  </p:sldMasterIdLst>
  <p:notesMasterIdLst>
    <p:notesMasterId r:id="rId14"/>
  </p:notesMasterIdLst>
  <p:sldIdLst>
    <p:sldId id="2147482498" r:id="rId7"/>
    <p:sldId id="256" r:id="rId8"/>
    <p:sldId id="257" r:id="rId9"/>
    <p:sldId id="258" r:id="rId10"/>
    <p:sldId id="259" r:id="rId11"/>
    <p:sldId id="2147482499" r:id="rId19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32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Critical VCP Commitments rows 92-110.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VCP Commitment Enabling KPIs rows 112-144.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year-wise key theme/action blocks rows 2-90.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Interdependencies across all function rows 173-199.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20B78-781A-5A7F-548A-3CA435E1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ECEE6-EB47-F1D5-339A-A789C6B5E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DE06-8F83-C577-7374-377BD436C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commitments rows 92-110, enabling KPI rows 112-144, theme/action rows 2-90.</a:t>
            </a:r>
          </a:p>
          <a:p>
            <a:r>
              <a:t>- RCA wording is inferred only from red Q2 target-vs-actual signals and committed action fields in the workbook; explicit RCA fields are not populated in the source sheet.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E091A-02EA-D267-4B11-831E820376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586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6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6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6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6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microsoft.com/office/2007/relationships/hdphoto" Target="../media/hdphoto2.wdp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microsoft.com/office/2007/relationships/hdphoto" Target="../media/hdphoto3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2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7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5.bin"/><Relationship Id="rId11" Type="http://schemas.openxmlformats.org/officeDocument/2006/relationships/image" Target="../media/image1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5351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3065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780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6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21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4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5351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3065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780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560" y="3657619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3235667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1" y="659401"/>
            <a:ext cx="10883616" cy="19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4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560" y="3657600"/>
            <a:ext cx="806704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3230880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1" y="659401"/>
            <a:ext cx="10883616" cy="19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02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50987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700405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7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1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6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3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48768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9472" y="2452377"/>
            <a:ext cx="4876373" cy="3808724"/>
          </a:xfrm>
        </p:spPr>
        <p:txBody>
          <a:bodyPr/>
          <a:lstStyle>
            <a:lvl1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List item</a:t>
            </a:r>
          </a:p>
          <a:p>
            <a:pPr lvl="1"/>
            <a:r>
              <a:rPr lang="en-US"/>
              <a:t>List item</a:t>
            </a:r>
          </a:p>
          <a:p>
            <a:pPr lvl="2"/>
            <a:r>
              <a:rPr lang="en-US"/>
              <a:t>List item</a:t>
            </a:r>
          </a:p>
          <a:p>
            <a:pPr lvl="3"/>
            <a:r>
              <a:rPr lang="en-US"/>
              <a:t>List item</a:t>
            </a:r>
          </a:p>
          <a:p>
            <a:pPr lvl="4"/>
            <a:r>
              <a:rPr lang="en-US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5" y="1299361"/>
            <a:ext cx="4876375" cy="95884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BDF0FF"/>
                </a:solidFill>
              </a:defRPr>
            </a:lvl1pPr>
          </a:lstStyle>
          <a:p>
            <a:r>
              <a:rPr lang="en-US"/>
              <a:t>Type your headline here </a:t>
            </a:r>
            <a:br>
              <a:rPr lang="en-US"/>
            </a:br>
            <a:r>
              <a:rPr lang="en-US"/>
              <a:t>(ex: Agenda)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9472" y="817929"/>
            <a:ext cx="2987040" cy="287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1">
                <a:solidFill>
                  <a:srgbClr val="BDF0FF"/>
                </a:solidFill>
              </a:defRPr>
            </a:lvl1pPr>
            <a:lvl2pPr marL="243829" indent="0">
              <a:buNone/>
              <a:defRPr sz="1867" b="1">
                <a:solidFill>
                  <a:schemeClr val="bg2"/>
                </a:solidFill>
              </a:defRPr>
            </a:lvl2pPr>
            <a:lvl3pPr marL="429069" indent="0">
              <a:buNone/>
              <a:defRPr sz="1867" b="1">
                <a:solidFill>
                  <a:schemeClr val="bg2"/>
                </a:solidFill>
              </a:defRPr>
            </a:lvl3pPr>
            <a:lvl4pPr marL="609570" indent="0">
              <a:buNone/>
              <a:defRPr sz="1867" b="1">
                <a:solidFill>
                  <a:schemeClr val="bg2"/>
                </a:solidFill>
              </a:defRPr>
            </a:lvl4pPr>
            <a:lvl5pPr marL="791592" indent="0">
              <a:buNone/>
              <a:defRPr sz="1867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Date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9472" y="498539"/>
            <a:ext cx="2987040" cy="287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1">
                <a:solidFill>
                  <a:srgbClr val="BDF0FF"/>
                </a:solidFill>
              </a:defRPr>
            </a:lvl1pPr>
            <a:lvl2pPr marL="243829" indent="0">
              <a:buNone/>
              <a:defRPr sz="1867" b="1">
                <a:solidFill>
                  <a:schemeClr val="bg2"/>
                </a:solidFill>
              </a:defRPr>
            </a:lvl2pPr>
            <a:lvl3pPr marL="429069" indent="0">
              <a:buNone/>
              <a:defRPr sz="1867" b="1">
                <a:solidFill>
                  <a:schemeClr val="bg2"/>
                </a:solidFill>
              </a:defRPr>
            </a:lvl3pPr>
            <a:lvl4pPr marL="609570" indent="0">
              <a:buNone/>
              <a:defRPr sz="1867" b="1">
                <a:solidFill>
                  <a:schemeClr val="bg2"/>
                </a:solidFill>
              </a:defRPr>
            </a:lvl4pPr>
            <a:lvl5pPr marL="791592" indent="0">
              <a:buNone/>
              <a:defRPr sz="1867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Meeting/Event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54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0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White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31363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Light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3265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4575" y="2949578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5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8" y="2197895"/>
            <a:ext cx="10850881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3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rgbClr val="00126E"/>
                </a:solidFill>
              </a:defRPr>
            </a:lvl1pPr>
          </a:lstStyle>
          <a:p>
            <a:r>
              <a:rPr lang="en-US"/>
              <a:t>White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60064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rgbClr val="00126E"/>
                </a:solidFill>
              </a:defRPr>
            </a:lvl1pPr>
          </a:lstStyle>
          <a:p>
            <a:r>
              <a:rPr lang="en-US"/>
              <a:t>Light blue divider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41107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7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499873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0379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38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59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49" y="1615017"/>
            <a:ext cx="10850880" cy="46464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720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27111" y="1615017"/>
            <a:ext cx="5098141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5098141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3629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03317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4207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37573" y="0"/>
            <a:ext cx="7851648" cy="68580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" y="501656"/>
            <a:ext cx="3169920" cy="96316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92008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46865" y="501656"/>
            <a:ext cx="3169920" cy="96316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7854427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3142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0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3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79" y="527228"/>
            <a:ext cx="1536836" cy="280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705264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800"/>
              </a:spcAft>
              <a:buSzPct val="75000"/>
              <a:buFontTx/>
              <a:buNone/>
            </a:pPr>
            <a:r>
              <a:rPr lang="en-US" sz="12800" b="0" i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342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91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79" y="527228"/>
            <a:ext cx="1536836" cy="280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705265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800"/>
              </a:spcAft>
              <a:buSzPct val="75000"/>
              <a:buFontTx/>
              <a:buNone/>
            </a:pPr>
            <a:r>
              <a:rPr lang="en-US" sz="12800" b="0" i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728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17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809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2133"/>
              </a:lnSpc>
              <a:spcBef>
                <a:spcPct val="0"/>
              </a:spcBef>
              <a:spcAft>
                <a:spcPct val="0"/>
              </a:spcAft>
            </a:pPr>
            <a:endParaRPr lang="en-US" sz="2133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3373123" y="52207"/>
            <a:ext cx="6988539" cy="787200"/>
          </a:xfrm>
        </p:spPr>
        <p:txBody>
          <a:bodyPr/>
          <a:lstStyle>
            <a:lvl1pPr algn="l">
              <a:lnSpc>
                <a:spcPts val="2133"/>
              </a:lnSpc>
              <a:defRPr sz="2133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5941" y="471161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5941" y="680640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941" y="52207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941" y="261684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/>
          <p:cNvCxnSpPr/>
          <p:nvPr userDrawn="1">
            <p:custDataLst>
              <p:tags r:id="rId3"/>
            </p:custDataLst>
          </p:nvPr>
        </p:nvCxnSpPr>
        <p:spPr>
          <a:xfrm>
            <a:off x="0" y="950192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70" y="501653"/>
            <a:ext cx="10031916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91CE8-1286-8B44-89AD-06BCF1EC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5163908-529D-4A49-892F-D37C4044DFD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102" y="1615017"/>
            <a:ext cx="10847919" cy="46464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867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333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6291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8878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n-US" sz="1800" noProof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3"/>
            <a:ext cx="7918704" cy="492443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2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548992257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9.xml"/><Relationship Id="rId39" Type="http://schemas.openxmlformats.org/officeDocument/2006/relationships/theme" Target="../theme/theme2.xml"/><Relationship Id="rId40" Type="http://schemas.openxmlformats.org/officeDocument/2006/relationships/tags" Target="../tags/tag1.xml"/><Relationship Id="rId41" Type="http://schemas.openxmlformats.org/officeDocument/2006/relationships/oleObject" Target="../embeddings/oleObject1.bin"/><Relationship Id="rId42" Type="http://schemas.openxmlformats.org/officeDocument/2006/relationships/image" Target="../media/image1.emf"/><Relationship Id="rId4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E79E2AF-5645-493D-E365-0D236CEFCF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74080318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04" imgH="405" progId="TCLayout.ActiveDocument.1">
                  <p:embed/>
                </p:oleObj>
              </mc:Choice>
              <mc:Fallback>
                <p:oleObj name="think-cell Slide" r:id="rId41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79E2AF-5645-493D-E365-0D236CEFC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099" y="1615017"/>
            <a:ext cx="10843687" cy="4646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986" y="501655"/>
            <a:ext cx="10843687" cy="9588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1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1219108" rtl="0" eaLnBrk="1" latinLnBrk="0" hangingPunct="1">
        <a:lnSpc>
          <a:spcPct val="100000"/>
        </a:lnSpc>
        <a:spcBef>
          <a:spcPct val="0"/>
        </a:spcBef>
        <a:spcAft>
          <a:spcPts val="800"/>
        </a:spcAft>
        <a:buNone/>
        <a:defRPr lang="en-US" sz="32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5067" indent="-195067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393590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590385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787180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983975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IN" sz="1867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180770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lang="en-US" sz="1867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377566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574361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771156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A4A3A4"/>
          </p15:clr>
        </p15:guide>
        <p15:guide id="4" orient="horz" pos="228">
          <p15:clr>
            <a:srgbClr val="A4A3A4"/>
          </p15:clr>
        </p15:guide>
        <p15:guide id="7" orient="horz" pos="2964">
          <p15:clr>
            <a:srgbClr val="A4A3A4"/>
          </p15:clr>
        </p15:guide>
        <p15:guide id="15" orient="horz" pos="1620">
          <p15:clr>
            <a:srgbClr val="F26B43"/>
          </p15:clr>
        </p15:guide>
        <p15:guide id="16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3.xml"/><Relationship Id="rId2" Type="http://schemas.openxmlformats.org/officeDocument/2006/relationships/customXml" Target="../../customXml/item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0D8A56-E6CD-5FD7-E320-F1D29502F0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559" y="2743200"/>
            <a:ext cx="9321852" cy="1609344"/>
          </a:xfrm>
        </p:spPr>
        <p:txBody>
          <a:bodyPr/>
          <a:lstStyle/>
          <a:p>
            <a:r>
              <a:rPr lang="en-US" dirty="0"/>
              <a:t>Service Transformation VCP Program Execution 2026-2028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B594E9-6228-DC14-39DA-DF89DB34ED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MoS Strategic Execution</a:t>
            </a:r>
          </a:p>
        </p:txBody>
      </p:sp>
      <p:sp>
        <p:nvSpPr>
          <p:cNvPr id="2" name="Title 2" hidden="1">
            <a:extLst>
              <a:ext uri="{FF2B5EF4-FFF2-40B4-BE49-F238E27FC236}">
                <a16:creationId xmlns:a16="http://schemas.microsoft.com/office/drawing/2014/main" id="{0747556C-BFCF-7ED2-06D4-00F0C3CF9E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" y="-958851"/>
            <a:ext cx="10843684" cy="228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08">
              <a:spcAft>
                <a:spcPts val="800"/>
              </a:spcAft>
              <a:defRPr/>
            </a:pPr>
            <a:r>
              <a:rPr lang="en-US" sz="1200">
                <a:solidFill>
                  <a:schemeClr val="tx2">
                    <a:alpha val="0"/>
                  </a:schemeClr>
                </a:solidFill>
              </a:rPr>
              <a:t>Presentation cover slide example: Vertical white logo on blue background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4458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7ED00D0-C9DD-4125-A766-EDBF68E87455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SERVICE TRANSFORMATION VCP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7BFDAE-7279-4011-94E4-8C2D2FE6D745}"/>
              </a:ext>
            </a:extLst>
          </p:cNvPr>
          <p:cNvSpPr>
            <a:spLocks noGrp="1"/>
          </p:cNvSpPr>
          <p:nvPr/>
        </p:nvSpPr>
        <p:spPr>
          <a:xfrm>
            <a:off x="400050" y="830961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Critical VCP Commitments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571D05-9744-4E47-842A-DA1FF01BDF5F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A4070-FCDC-4897-9775-D19AED1C1B67}"/>
              </a:ext>
            </a:extLst>
          </p:cNvPr>
          <p:cNvSpPr>
            <a:spLocks noGrp="1"/>
          </p:cNvSpPr>
          <p:nvPr/>
        </p:nvSpPr>
        <p:spPr>
          <a:xfrm>
            <a:off x="62865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6C610-82ED-4FDA-B657-2A3896832253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Critical commitments tracked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BC11BE-375B-49F1-A4DE-76B3AB649AA0}"/>
              </a:ext>
            </a:extLst>
          </p:cNvPr>
          <p:cNvSpPr>
            <a:spLocks noGrp="1"/>
          </p:cNvSpPr>
          <p:nvPr/>
        </p:nvSpPr>
        <p:spPr>
          <a:xfrm>
            <a:off x="4314825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2DDEEB-2520-4739-B727-25BF49E36E84}"/>
              </a:ext>
            </a:extLst>
          </p:cNvPr>
          <p:cNvSpPr>
            <a:spLocks noGrp="1"/>
          </p:cNvSpPr>
          <p:nvPr/>
        </p:nvSpPr>
        <p:spPr>
          <a:xfrm>
            <a:off x="4543425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dirty="0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929DA5-693F-40C7-BE4A-03E0040CE1E3}"/>
              </a:ext>
            </a:extLst>
          </p:cNvPr>
          <p:cNvSpPr>
            <a:spLocks noGrp="1"/>
          </p:cNvSpPr>
          <p:nvPr/>
        </p:nvSpPr>
        <p:spPr>
          <a:xfrm>
            <a:off x="4543425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Q2 commitments below target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AEDB6E-D1A2-45A7-A4A0-218B6F89F886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DCEED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3435C-D9B4-45C0-942C-CD3ADC8DE977}"/>
              </a:ext>
            </a:extLst>
          </p:cNvPr>
          <p:cNvSpPr>
            <a:spLocks noGrp="1"/>
          </p:cNvSpPr>
          <p:nvPr/>
        </p:nvSpPr>
        <p:spPr>
          <a:xfrm>
            <a:off x="845820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E7A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550" b="1" dirty="0">
                <a:solidFill>
                  <a:srgbClr val="0E7A3D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2550" b="1" dirty="0">
              <a:solidFill>
                <a:srgbClr val="0E7A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7DEAFD-614D-4530-9CB8-76B752C51CD2}"/>
              </a:ext>
            </a:extLst>
          </p:cNvPr>
          <p:cNvSpPr>
            <a:spLocks noGrp="1"/>
          </p:cNvSpPr>
          <p:nvPr/>
        </p:nvSpPr>
        <p:spPr>
          <a:xfrm>
            <a:off x="845820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125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Q2 commitments met or above target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2251604690"/>
              </p:ext>
            </p:extLst>
          </p:nvPr>
        </p:nvGraphicFramePr>
        <p:xfrm>
          <a:off x="400050" y="3200400"/>
          <a:ext cx="11391900" cy="22098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2025 baseline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2026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2027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2028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Q2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Q2 actual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Service Revenue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~€68M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€76.5M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€80.4M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€96M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€18.85M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€18.55M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Service Igm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Remote Resolution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26.8%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&gt;36%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3D"/>
                          </a:solidFill>
                        </a:rPr>
                        <a:t>On / above target</a:t>
                      </a:r>
                    </a:p>
                  </a:txBody>
                  <a:tcPr>
                    <a:solidFill>
                      <a:srgbClr val="DCEED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33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3B0E1D-843C-485E-8D2F-DDE61A2D8E56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COMMITMENT ENABLERS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B6E1DC-218D-4CA1-A1CB-3E574234F174}"/>
              </a:ext>
            </a:extLst>
          </p:cNvPr>
          <p:cNvSpPr>
            <a:spLocks noGrp="1"/>
          </p:cNvSpPr>
          <p:nvPr/>
        </p:nvSpPr>
        <p:spPr>
          <a:xfrm>
            <a:off x="400050" y="709613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VCP Commitment Enabling KPIs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B4E168-6EB0-41F2-B2B9-6E6CA5ED33F1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2BC0B-34BE-4ECF-BA73-EFD3A4C4C3CC}"/>
              </a:ext>
            </a:extLst>
          </p:cNvPr>
          <p:cNvSpPr>
            <a:spLocks noGrp="1"/>
          </p:cNvSpPr>
          <p:nvPr/>
        </p:nvSpPr>
        <p:spPr>
          <a:xfrm>
            <a:off x="62865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530C10-8F1B-4C51-AE91-424DD0AB1234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Enabling KPIs with Q2 target and actual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D67EB7-980E-4B21-AF9E-31F55F40FF70}"/>
              </a:ext>
            </a:extLst>
          </p:cNvPr>
          <p:cNvSpPr>
            <a:spLocks noGrp="1"/>
          </p:cNvSpPr>
          <p:nvPr/>
        </p:nvSpPr>
        <p:spPr>
          <a:xfrm>
            <a:off x="4314825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B5594-DD44-43D7-8784-380913D5485B}"/>
              </a:ext>
            </a:extLst>
          </p:cNvPr>
          <p:cNvSpPr>
            <a:spLocks noGrp="1"/>
          </p:cNvSpPr>
          <p:nvPr/>
        </p:nvSpPr>
        <p:spPr>
          <a:xfrm>
            <a:off x="4543425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433A26-6797-4F56-8DEB-3001B940F5B8}"/>
              </a:ext>
            </a:extLst>
          </p:cNvPr>
          <p:cNvSpPr>
            <a:spLocks noGrp="1"/>
          </p:cNvSpPr>
          <p:nvPr/>
        </p:nvSpPr>
        <p:spPr>
          <a:xfrm>
            <a:off x="4543425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125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Q2 commitments below target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CF25A8-1A5B-4171-A15B-6B81D2024D36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20DBC5-3FC8-4AFC-8CF5-FDFF2EC9167D}"/>
              </a:ext>
            </a:extLst>
          </p:cNvPr>
          <p:cNvSpPr>
            <a:spLocks noGrp="1"/>
          </p:cNvSpPr>
          <p:nvPr/>
        </p:nvSpPr>
        <p:spPr>
          <a:xfrm>
            <a:off x="8458200" y="1847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4F1C9-06A8-4065-B05D-472BDD5A930B}"/>
              </a:ext>
            </a:extLst>
          </p:cNvPr>
          <p:cNvSpPr>
            <a:spLocks noGrp="1"/>
          </p:cNvSpPr>
          <p:nvPr/>
        </p:nvSpPr>
        <p:spPr>
          <a:xfrm>
            <a:off x="8458200" y="23241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KPIs with no quarterly data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2218772912"/>
              </p:ext>
            </p:extLst>
          </p:nvPr>
        </p:nvGraphicFramePr>
        <p:xfrm>
          <a:off x="400050" y="3181350"/>
          <a:ext cx="11391900" cy="2743202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2025 baseline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2028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actual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Committed action / data note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Contract Penetration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48.0%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54.7%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54.0%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GTM enablement + bundling at sale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CLV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€1.3M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€0.32M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€0.16M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TechMax, Hero features, upgrades</a:t>
                      </a:r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Part Harvesting Savings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(+)€2M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Circular economy + IB returns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Pricing / Value Realization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Not available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/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T&amp;M Margin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Service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Not available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82FD2F-DE6D-4438-A533-D89756DC2090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THEMES AND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321A5-A526-480A-A3D9-2E1D9CCAA8DB}"/>
              </a:ext>
            </a:extLst>
          </p:cNvPr>
          <p:cNvSpPr>
            <a:spLocks noGrp="1"/>
          </p:cNvSpPr>
          <p:nvPr/>
        </p:nvSpPr>
        <p:spPr>
          <a:xfrm>
            <a:off x="400050" y="725424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of Year-wise Key themes &amp; Action Items (2026-28)</a:t>
            </a:r>
            <a:endParaRPr sz="27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599683949"/>
              </p:ext>
            </p:extLst>
          </p:nvPr>
        </p:nvGraphicFramePr>
        <p:xfrm>
          <a:off x="400050" y="1657350"/>
          <a:ext cx="11391900" cy="436245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245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theme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Progress / status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Profitable Growth through Customer for Life 1.9M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TechMax in Core Block (Z70/Z90); PoS for (Z10/Z30) along with Catalog; CLV - EOS Extension, FD 30X30, Becon Monitor , Win11 PSC10; Dedicated Service comercial 3 regions and Service Operations Hedcount NAR 3 regions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16400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Productivity - 1.5&lt; + 0.2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High Activity Sites Monitoring, FRU Rationalization; Li Phosphate Battery (Poc) ++; Sevice Productivity Funnel expansion; COO Imrovement - Labor hrs reduction, Optimised allocations, Wrong 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16400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Digital Service - Chat GPT AI Roadmap for Customer Experience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Chatbot based on Service Manual; PSC 10 and Connectivity improvement; RSDI - Remote software distribution and Installation -; Operational excellence - OPF, FVF, Remore rsolution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16400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Process Improvement - +0.5M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IB retension - Visibility and Win rate; T&amp;M - Zero Sales, Process gaps; Pricing Strategy - Priority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16400"/>
                          </a:solidFill>
                        </a:rPr>
                        <a:t>67%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CLV, TechMax Propositions Expansions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Extend to FE - AVO, Elevate Upgrade, (SW High Margin); CLV Expansion - 32Inch Monitor, LiPH, Wireless Video , Onscreen Keyboard (HW)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16400"/>
                          </a:solidFill>
                        </a:rPr>
                        <a:t>25%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Market Share Gain deom HC- CP Penetrtion, Inside Sales, CLV GTM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CP Imprvement by XX%; CLV revenue by region - DMB and Tracking; Value Proposition Workshops for Regins; GTM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Profitability through Funnelled Project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Productivity Funnel - LiPh Battery, RSDI, PSC10; Warranty for consumable FRU, FRU nego, Derisking - PE CSCollaboraion; Service Delivery - CLV Margins and Contract / T&amp;M Price Realisation DMB, Monitoring; Part Harvesting Supplier setup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CLV, TechMax Propositions Expansions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Extend to FE - iApps, Duel Fluro, Pinch Zoom / Xres, QCA, QVA, 30 FPS; CLV Expansion - 15Kw to 25KW, IGZo detector, Injector Interface (HW)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Profitability through Funnelled Project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Harvest- Differentiated Parts - Parts Nova; Gillardoni Derisking - PE CS colaboraion; techMax and Extended Warranty as Coreblock; Material and COO reduction - Labor cost optimisation, Allocation controls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53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FC196EC-A684-41ED-AC67-53203E2E3260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INTERDEPENDENCIES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03D85-F1DC-4D6B-B622-B01CC5D09A56}"/>
              </a:ext>
            </a:extLst>
          </p:cNvPr>
          <p:cNvSpPr>
            <a:spLocks noGrp="1"/>
          </p:cNvSpPr>
          <p:nvPr/>
        </p:nvSpPr>
        <p:spPr>
          <a:xfrm>
            <a:off x="400050" y="700088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Cross-functional dependencies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188DBB-E126-4CDB-B4E3-618A797D946E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C7E4D-656D-4240-B00C-25310C490626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70BEA-EB2F-4A63-BD3E-EC842FD18198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Interdependency actions captured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4C884D-E46A-4CE9-9C0D-84EB92F5FD93}"/>
              </a:ext>
            </a:extLst>
          </p:cNvPr>
          <p:cNvSpPr>
            <a:spLocks noGrp="1"/>
          </p:cNvSpPr>
          <p:nvPr/>
        </p:nvSpPr>
        <p:spPr>
          <a:xfrm>
            <a:off x="4314825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369EC-A9CB-4082-BD29-90FF439ECFA4}"/>
              </a:ext>
            </a:extLst>
          </p:cNvPr>
          <p:cNvSpPr>
            <a:spLocks noGrp="1"/>
          </p:cNvSpPr>
          <p:nvPr/>
        </p:nvSpPr>
        <p:spPr>
          <a:xfrm>
            <a:off x="4543425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3A116D-747F-469A-8A62-CB1E02D58026}"/>
              </a:ext>
            </a:extLst>
          </p:cNvPr>
          <p:cNvSpPr>
            <a:spLocks noGrp="1"/>
          </p:cNvSpPr>
          <p:nvPr/>
        </p:nvSpPr>
        <p:spPr>
          <a:xfrm>
            <a:off x="4543425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Dependencies not started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21E767-03C6-45F4-BE6D-384C71A52FD3}"/>
              </a:ext>
            </a:extLst>
          </p:cNvPr>
          <p:cNvSpPr>
            <a:spLocks noGrp="1"/>
          </p:cNvSpPr>
          <p:nvPr/>
        </p:nvSpPr>
        <p:spPr>
          <a:xfrm>
            <a:off x="8229600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87731-D186-4BE0-AEE5-AA1EDF5B8A67}"/>
              </a:ext>
            </a:extLst>
          </p:cNvPr>
          <p:cNvSpPr>
            <a:spLocks noGrp="1"/>
          </p:cNvSpPr>
          <p:nvPr/>
        </p:nvSpPr>
        <p:spPr>
          <a:xfrm>
            <a:off x="8458200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59957D-7645-4ABF-9CB0-461C7B3381E2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2028 dependency rows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3318463006"/>
              </p:ext>
            </p:extLst>
          </p:nvPr>
        </p:nvGraphicFramePr>
        <p:xfrm>
          <a:off x="400050" y="3238500"/>
          <a:ext cx="11391900" cy="22225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Dependency focus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Actions 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Maximize Service growth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4: HOS pricing handshake; Tech Max 2026 Roadmap definition; Tech Max 2027 Roadmap; EW/TM Core Block proposition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16400"/>
                          </a:solidFill>
                        </a:rPr>
                        <a:t>100%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E2E portfolio simplificaiton "TRIM"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1: Identify Late cutomisation option which can be upgraded as FE kit to support core standard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16400"/>
                          </a:solidFill>
                        </a:rPr>
                        <a:t>50%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Marketing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Driving launch success for Systems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6: Dhruv: Clarity on usability claims for CS features (26WK33); Dhruv: Clarity on CS feature claims list along with substantiation plan; Dhruv: CS training plan; Dhruv: CS content for Kick-off sales training (Q4); Dhruv: CS Training; Dhruv: CS online course code creation(Q1)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25866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OIT to Rev Cycle Time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1: Sales: drive adoption of FS- Ready configurations via meeting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16400"/>
                          </a:solidFill>
                        </a:rPr>
                        <a:t>50%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72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A9238-4851-CA33-BEAF-65FFFE64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AC6883-C71E-20C9-B3FC-0DB7B4FEA61E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RCA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035BE5-5C27-39C6-058B-95A4B65557CF}"/>
              </a:ext>
            </a:extLst>
          </p:cNvPr>
          <p:cNvSpPr>
            <a:spLocks noGrp="1"/>
          </p:cNvSpPr>
          <p:nvPr/>
        </p:nvSpPr>
        <p:spPr>
          <a:xfrm>
            <a:off x="400050" y="775716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RCA for red KPIs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F2018F-7AD9-D2AF-B073-1FE23585C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698117"/>
              </p:ext>
            </p:extLst>
          </p:nvPr>
        </p:nvGraphicFramePr>
        <p:xfrm>
          <a:off x="400050" y="1599056"/>
          <a:ext cx="6485383" cy="4189096"/>
        </p:xfrm>
        <a:graphic>
          <a:graphicData uri="http://schemas.openxmlformats.org/drawingml/2006/table">
            <a:tbl>
              <a:tblPr/>
              <a:tblGrid>
                <a:gridCol w="112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27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Red metric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RCA </a:t>
                      </a:r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Management follow-up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08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7372F"/>
                          </a:solidFill>
                        </a:rPr>
                        <a:t>Service Revenue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€18.55M vs €18.85M (-0.30M)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83408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7372F"/>
                          </a:solidFill>
                        </a:rPr>
                        <a:t>Service Igm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47.5% vs 49.1% (-1.6 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83408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7372F"/>
                          </a:solidFill>
                        </a:rPr>
                        <a:t>Contract Penetration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54.0% vs 54.7% (-0.7 pts)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83408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7372F"/>
                          </a:solidFill>
                        </a:rPr>
                        <a:t>CLV Revenue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€0.16M vs €0.32M (-0.16M)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32CB8BF-B3B2-98BA-2D55-1AD6F5213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733200"/>
              </p:ext>
            </p:extLst>
          </p:nvPr>
        </p:nvGraphicFramePr>
        <p:xfrm>
          <a:off x="7187184" y="1589913"/>
          <a:ext cx="4696968" cy="3966342"/>
        </p:xfrm>
        <a:graphic>
          <a:graphicData uri="http://schemas.openxmlformats.org/drawingml/2006/table">
            <a:tbl>
              <a:tblPr/>
              <a:tblGrid>
                <a:gridCol w="1551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9802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Data readiness gap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Current evidence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25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Owner fields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9/9 blank across commitment/KPI rows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Target fields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2026 target missing 4/9; 2027 target missing 4/9; 2028 target missing 3/9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</a:tr>
              <a:tr h="63525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Quarterly data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44/72 target/actual cells missing; 4 KPIs have no quarterly data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Theme tracker blanks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Impact: 31/31 | Owner: 31/31 | Start Date: 31/31 | Theme Progress: 31/31</a:t>
                      </a:r>
                    </a:p>
                  </a:txBody>
                  <a:tcPr>
                    <a:solidFill>
                      <a:srgbClr val="FFF7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88460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>
            <a:extLst>
              <a:ext uri="{FF2B5EF4-FFF2-40B4-BE49-F238E27FC236}">
                <a16:creationId xmlns:a16="http://schemas.microsoft.com/office/drawing/2014/main" id="{0FC196EC-A684-41ED-AC67-53203E2E3260}"/>
              </a:ext>
            </a:extLst>
          </p:cNvPr>
          <p:cNvSpPr>
            <a:spLocks noGrp="1"/>
          </p:cNvSpPr>
          <p:nvPr/>
        </p:nvSpPr>
        <p:spPr>
          <a:xfrm>
            <a:off x="400050" y="2571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 dirty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INTERDEPENDENCIES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A03D85-F1DC-4D6B-B622-B01CC5D09A56}"/>
              </a:ext>
            </a:extLst>
          </p:cNvPr>
          <p:cNvSpPr>
            <a:spLocks noGrp="1"/>
          </p:cNvSpPr>
          <p:nvPr/>
        </p:nvSpPr>
        <p:spPr>
          <a:xfrm>
            <a:off x="400050" y="700088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Cross-functional dependencies (cont.)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188DBB-E126-4CDB-B4E3-618A797D946E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C7E4D-656D-4240-B00C-25310C490626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70BEA-EB2F-4A63-BD3E-EC842FD18198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Interdependency actions captured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4C884D-E46A-4CE9-9C0D-84EB92F5FD93}"/>
              </a:ext>
            </a:extLst>
          </p:cNvPr>
          <p:cNvSpPr>
            <a:spLocks noGrp="1"/>
          </p:cNvSpPr>
          <p:nvPr/>
        </p:nvSpPr>
        <p:spPr>
          <a:xfrm>
            <a:off x="4314825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8D7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369EC-A9CB-4082-BD29-90FF439ECFA4}"/>
              </a:ext>
            </a:extLst>
          </p:cNvPr>
          <p:cNvSpPr>
            <a:spLocks noGrp="1"/>
          </p:cNvSpPr>
          <p:nvPr/>
        </p:nvSpPr>
        <p:spPr>
          <a:xfrm>
            <a:off x="4543425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7372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3A116D-747F-469A-8A62-CB1E02D58026}"/>
              </a:ext>
            </a:extLst>
          </p:cNvPr>
          <p:cNvSpPr>
            <a:spLocks noGrp="1"/>
          </p:cNvSpPr>
          <p:nvPr/>
        </p:nvSpPr>
        <p:spPr>
          <a:xfrm>
            <a:off x="4543425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Dependencies not started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21E767-03C6-45F4-BE6D-384C71A52FD3}"/>
              </a:ext>
            </a:extLst>
          </p:cNvPr>
          <p:cNvSpPr>
            <a:spLocks noGrp="1"/>
          </p:cNvSpPr>
          <p:nvPr/>
        </p:nvSpPr>
        <p:spPr>
          <a:xfrm>
            <a:off x="8229600" y="1695450"/>
            <a:ext cx="3562350" cy="1123950"/>
          </a:xfrm>
          <a:prstGeom prst="roundRect">
            <a:avLst>
              <a:gd name="adj" fmla="val 678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87731-D186-4BE0-AEE5-AA1EDF5B8A67}"/>
              </a:ext>
            </a:extLst>
          </p:cNvPr>
          <p:cNvSpPr>
            <a:spLocks noGrp="1"/>
          </p:cNvSpPr>
          <p:nvPr/>
        </p:nvSpPr>
        <p:spPr>
          <a:xfrm>
            <a:off x="8458200" y="1866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164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59957D-7645-4ABF-9CB0-461C7B3381E2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2028 dependency rows</a:t>
            </a: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3318463006"/>
              </p:ext>
            </p:extLst>
          </p:nvPr>
        </p:nvGraphicFramePr>
        <p:xfrm>
          <a:off x="400050" y="3238500"/>
          <a:ext cx="11391900" cy="8890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Dependency focus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Actions 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Quality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Reduce Product quality failures in Warranty-Part Complaints (Impact to be written); Reduce Product quality failures in Warranty-Non-Part Complaints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4: 1.Warranty failure data and associated cost; 2. Failed Samples of MVS Internal cables from Failure Lab analysis [BEST Location from Field returned part.]; 3. Tracking of dismantled MVS-PCs at Field to be reached at Redisys (Supplier); Data collection for Non Part failure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16400"/>
                          </a:solidFill>
                        </a:rPr>
                        <a:t>100% | In progress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1;Scheme1;-1;-2"/>
  <p:tag name="COLORSETCLASSNAME" val="ColorSet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387266672037986304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38726667203798630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71EEB487-3A98-4BB3-9C32-E1BF7CB2B049}">
  <ds:schemaRefs/>
</ds:datastoreItem>
</file>

<file path=customXml/itemProps2.xml><?xml version="1.0" encoding="utf-8"?>
<ds:datastoreItem xmlns:ds="http://schemas.openxmlformats.org/officeDocument/2006/customXml" ds:itemID="{12862C41-9AA5-4054-B274-571189BF0734}">
  <ds:schemaRefs/>
</ds:datastoreItem>
</file>

<file path=customXml/itemProps3.xml><?xml version="1.0" encoding="utf-8"?>
<ds:datastoreItem xmlns:ds="http://schemas.openxmlformats.org/officeDocument/2006/customXml" ds:itemID="{B363A4E8-2FFF-4188-8164-AFB5A5DEB1EF}">
  <ds:schemaRefs/>
</ds:datastoreItem>
</file>

<file path=customXml/itemProps4.xml><?xml version="1.0" encoding="utf-8"?>
<ds:datastoreItem xmlns:ds="http://schemas.openxmlformats.org/officeDocument/2006/customXml" ds:itemID="{F99059FA-E403-4390-8901-90646276694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Microsoft Office PowerPoint</Application>
  <DocSecurity>0</DocSecurity>
  <PresentationFormat>Widescreen</PresentationFormat>
  <Paragraphs>227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Segoe UI</vt:lpstr>
      <vt:lpstr>ChatGPT</vt:lpstr>
      <vt:lpstr>Slide Master Only: November 2024</vt:lpstr>
      <vt:lpstr>think-cell Slide</vt:lpstr>
      <vt:lpstr>Presentation cover slide example: Vertical white logo on blue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Jindal, Aditya</cp:lastModifiedBy>
  <cp:revision>2</cp:revision>
  <dcterms:created xsi:type="dcterms:W3CDTF">2026-09-03T05:48:45Z</dcterms:created>
  <dcterms:modified xsi:type="dcterms:W3CDTF">2026-09-03T07:26:58Z</dcterms:modified>
</cp:coreProperties>
</file>