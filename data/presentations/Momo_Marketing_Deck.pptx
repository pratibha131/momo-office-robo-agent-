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mo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777240"/>
            <a:ext cx="3348433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554480"/>
            <a:ext cx="6583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B7B0D8"/>
                </a:solidFill>
                <a:latin typeface="Calibri"/>
              </a:rPr>
              <a:t>Meet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67665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>
                <a:solidFill>
                  <a:srgbClr val="FFFFFF"/>
                </a:solidFill>
                <a:latin typeface="Calibri"/>
              </a:rPr>
              <a:t>Momo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CFC9E8"/>
                </a:solidFill>
                <a:latin typeface="Calibri"/>
              </a:rPr>
              <a:t>Your voice-driven </a:t>
            </a:r>
            <a:r>
              <a:rPr sz="2400" b="1">
                <a:solidFill>
                  <a:srgbClr val="E8628C"/>
                </a:solidFill>
                <a:latin typeface="Calibri"/>
              </a:rPr>
              <a:t>desktop companion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34340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C74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🎙  Just speak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43434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2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🧠  She handles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434340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3A3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🔒  Private by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A72A0"/>
                </a:solidFill>
                <a:latin typeface="Calibri"/>
              </a:rPr>
              <a:t>PHILIPS PROFESSIONALS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8" grpId="0" animBg="1"/>
      <p:bldP spid="9" grpId="0" animBg="1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2608"/>
            <a:ext cx="310896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329184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8B84A6"/>
                </a:solidFill>
                <a:latin typeface="Calibri"/>
              </a:rPr>
              <a:t>MOMO · PHILIPS PROFESSIONALS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6203A"/>
                </a:solidFill>
                <a:latin typeface="Calibri"/>
              </a:rPr>
              <a:t>Your day is leaking hours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383280" cy="3566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190500" dist="63500" dir="5400000" rotWithShape="0">
              <a:srgbClr val="5A467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" y="2194560"/>
            <a:ext cx="777240" cy="777240"/>
          </a:xfrm>
          <a:prstGeom prst="ellipse">
            <a:avLst/>
          </a:prstGeom>
          <a:solidFill>
            <a:srgbClr val="E86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272284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0">
                <a:solidFill>
                  <a:srgbClr val="FFFFFF"/>
                </a:solidFill>
                <a:latin typeface="Segoe UI Emoji"/>
              </a:rPr>
              <a:t>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004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6203A"/>
                </a:solidFill>
                <a:latin typeface="Calibri"/>
              </a:rPr>
              <a:t>Hours lost daily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794760"/>
            <a:ext cx="27889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5470"/>
                </a:solidFill>
                <a:latin typeface="Calibri"/>
              </a:rPr>
              <a:t>Email triage, meeting admin, and scattered to-dos eat deep-work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28800"/>
            <a:ext cx="3383280" cy="3566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190500" dist="63500" dir="5400000" rotWithShape="0">
              <a:srgbClr val="5A467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800600" y="2194560"/>
            <a:ext cx="777240" cy="777240"/>
          </a:xfrm>
          <a:prstGeom prst="ellipse">
            <a:avLst/>
          </a:prstGeom>
          <a:solidFill>
            <a:srgbClr val="3B8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2272284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0">
                <a:solidFill>
                  <a:srgbClr val="FFFFFF"/>
                </a:solidFill>
                <a:latin typeface="Segoe UI Emoji"/>
              </a:rPr>
              <a:t>☁️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2004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6203A"/>
                </a:solidFill>
                <a:latin typeface="Calibri"/>
              </a:rPr>
              <a:t>Assistants that overreach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794760"/>
            <a:ext cx="27889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5470"/>
                </a:solidFill>
                <a:latin typeface="Calibri"/>
              </a:rPr>
              <a:t>Cloud uploads, new logins, IT approval — just to touch your inbox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828800"/>
            <a:ext cx="3383280" cy="3566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190500" dist="63500" dir="5400000" rotWithShape="0">
              <a:srgbClr val="5A467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58200" y="2194560"/>
            <a:ext cx="777240" cy="777240"/>
          </a:xfrm>
          <a:prstGeom prst="ellipse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58200" y="2272284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0">
                <a:solidFill>
                  <a:srgbClr val="FFFFFF"/>
                </a:solidFill>
                <a:latin typeface="Segoe UI Emoji"/>
              </a:rPr>
              <a:t>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2004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6203A"/>
                </a:solidFill>
                <a:latin typeface="Calibri"/>
              </a:rPr>
              <a:t>Notes that vanish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794760"/>
            <a:ext cx="27889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5470"/>
                </a:solidFill>
                <a:latin typeface="Calibri"/>
              </a:rPr>
              <a:t>Action items are forgotten the moment the call ends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97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5A5470"/>
                </a:solidFill>
                <a:latin typeface="Calibri"/>
              </a:rPr>
              <a:t>Knowledge workers deserve help that </a:t>
            </a:r>
            <a:r>
              <a:rPr sz="1700" b="1">
                <a:solidFill>
                  <a:srgbClr val="C74670"/>
                </a:solidFill>
                <a:latin typeface="Calibri"/>
              </a:rPr>
              <a:t>works where they already work.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/>
      <p:bldP spid="9" grpId="0"/>
      <p:bldP spid="10" grpId="0"/>
      <p:bldP spid="11" grpId="0" animBg="1"/>
      <p:bldP spid="12" grpId="0" animBg="1"/>
      <p:bldP spid="13" grpId="0"/>
      <p:bldP spid="14" grpId="0"/>
      <p:bldP spid="15" grpId="0"/>
      <p:bldP spid="16" grpId="0" animBg="1"/>
      <p:bldP spid="17" grpId="0" animBg="1"/>
      <p:bldP spid="18" grpId="0"/>
      <p:bldP spid="19" grpId="0"/>
      <p:bldP spid="20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2608"/>
            <a:ext cx="310896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329184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8B84A6"/>
                </a:solidFill>
                <a:latin typeface="Calibri"/>
              </a:rPr>
              <a:t>MOMO · PHILIPS PROFESSIONALS</a:t>
            </a:r>
          </a:p>
        </p:txBody>
      </p:sp>
      <p:pic>
        <p:nvPicPr>
          <p:cNvPr id="5" name="Picture 4" descr="mo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234440"/>
            <a:ext cx="3069397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914400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26203A"/>
                </a:solidFill>
                <a:latin typeface="Calibri"/>
              </a:rPr>
              <a:t>A companion, not a chatbot</a:t>
            </a:r>
          </a:p>
        </p:txBody>
      </p:sp>
      <p:sp>
        <p:nvSpPr>
          <p:cNvPr id="7" name="Oval 6"/>
          <p:cNvSpPr/>
          <p:nvPr/>
        </p:nvSpPr>
        <p:spPr>
          <a:xfrm>
            <a:off x="5212080" y="1920240"/>
            <a:ext cx="566928" cy="566928"/>
          </a:xfrm>
          <a:prstGeom prst="ellipse">
            <a:avLst/>
          </a:prstGeom>
          <a:solidFill>
            <a:srgbClr val="E86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80" y="197693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Segoe UI Emoji"/>
              </a:rPr>
              <a:t>🖥️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993392"/>
            <a:ext cx="557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0">
                <a:solidFill>
                  <a:srgbClr val="453F5C"/>
                </a:solidFill>
                <a:latin typeface="Calibri"/>
              </a:rPr>
              <a:t>Lives in the corner of your screen — always one tap away</a:t>
            </a:r>
          </a:p>
        </p:txBody>
      </p:sp>
      <p:sp>
        <p:nvSpPr>
          <p:cNvPr id="10" name="Oval 9"/>
          <p:cNvSpPr/>
          <p:nvPr/>
        </p:nvSpPr>
        <p:spPr>
          <a:xfrm>
            <a:off x="5212080" y="2880360"/>
            <a:ext cx="566928" cy="566928"/>
          </a:xfrm>
          <a:prstGeom prst="ellipse">
            <a:avLst/>
          </a:prstGeom>
          <a:solidFill>
            <a:srgbClr val="3B8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80" y="293705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Segoe UI Emoji"/>
              </a:rPr>
              <a:t>🗣️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953512"/>
            <a:ext cx="557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0">
                <a:solidFill>
                  <a:srgbClr val="453F5C"/>
                </a:solidFill>
                <a:latin typeface="Calibri"/>
              </a:rPr>
              <a:t>Understands English, Hindi and Hinglish — just talk normally</a:t>
            </a:r>
          </a:p>
        </p:txBody>
      </p:sp>
      <p:sp>
        <p:nvSpPr>
          <p:cNvPr id="13" name="Oval 12"/>
          <p:cNvSpPr/>
          <p:nvPr/>
        </p:nvSpPr>
        <p:spPr>
          <a:xfrm>
            <a:off x="5212080" y="3840480"/>
            <a:ext cx="566928" cy="566928"/>
          </a:xfrm>
          <a:prstGeom prst="ellipse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12080" y="389717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Segoe UI Emoji"/>
              </a:rPr>
              <a:t>⚙️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3913632"/>
            <a:ext cx="557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0">
                <a:solidFill>
                  <a:srgbClr val="453F5C"/>
                </a:solidFill>
                <a:latin typeface="Calibri"/>
              </a:rPr>
              <a:t>Works in the background while you keep typing</a:t>
            </a:r>
          </a:p>
        </p:txBody>
      </p:sp>
      <p:sp>
        <p:nvSpPr>
          <p:cNvPr id="16" name="Oval 15"/>
          <p:cNvSpPr/>
          <p:nvPr/>
        </p:nvSpPr>
        <p:spPr>
          <a:xfrm>
            <a:off x="5212080" y="4800600"/>
            <a:ext cx="566928" cy="566928"/>
          </a:xfrm>
          <a:prstGeom prst="ellipse">
            <a:avLst/>
          </a:prstGeom>
          <a:solidFill>
            <a:srgbClr val="3A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12080" y="485729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Segoe UI Emoji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4873752"/>
            <a:ext cx="557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0">
                <a:solidFill>
                  <a:srgbClr val="453F5C"/>
                </a:solidFill>
                <a:latin typeface="Calibri"/>
              </a:rPr>
              <a:t>No admin rights, no IT consent needed to set 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0" y="58064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3B8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English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580644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E86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हिंदी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58064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6B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Hinglish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2608"/>
            <a:ext cx="310896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329184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C94C0"/>
                </a:solidFill>
                <a:latin typeface="Calibri"/>
              </a:rPr>
              <a:t>MOMO · PHILIPS PROFESSIONALS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Calibri"/>
              </a:rPr>
              <a:t>How she's built</a:t>
            </a:r>
          </a:p>
        </p:txBody>
      </p:sp>
      <p:pic>
        <p:nvPicPr>
          <p:cNvPr id="6" name="Picture 5" descr="ai_rou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737360"/>
            <a:ext cx="3749039" cy="2108835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E86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37943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Segoe UI Emoji"/>
              </a:rPr>
              <a:t>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764792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80136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C5BFDE"/>
                </a:solidFill>
                <a:latin typeface="Calibri"/>
              </a:rPr>
              <a:t>Offline speech-to-text — the mic never times out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679191"/>
            <a:ext cx="548640" cy="548640"/>
          </a:xfrm>
          <a:prstGeom prst="ellipse">
            <a:avLst/>
          </a:prstGeom>
          <a:solidFill>
            <a:srgbClr val="3B8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73405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Segoe UI Emoji"/>
              </a:rPr>
              <a:t>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60903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Brain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697479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C5BFDE"/>
                </a:solidFill>
                <a:latin typeface="Calibri"/>
              </a:rPr>
              <a:t>Claude, with a persona and task playbooks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575304"/>
            <a:ext cx="548640" cy="548640"/>
          </a:xfrm>
          <a:prstGeom prst="ellipse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63016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Segoe UI Emoji"/>
              </a:rPr>
              <a:t>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57016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Hands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593592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C5BFDE"/>
                </a:solidFill>
                <a:latin typeface="Calibri"/>
              </a:rPr>
              <a:t>PowerShell + Outlook &amp; Teams automation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471416"/>
            <a:ext cx="548640" cy="548640"/>
          </a:xfrm>
          <a:prstGeom prst="ellipse">
            <a:avLst/>
          </a:prstGeom>
          <a:solidFill>
            <a:srgbClr val="3A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526279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Segoe UI Emoji"/>
              </a:rPr>
              <a:t>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453128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Voice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489703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C5BFDE"/>
                </a:solidFill>
                <a:latin typeface="Calibri"/>
              </a:rPr>
              <a:t>Natural neural text-to-speech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5367528"/>
            <a:ext cx="548640" cy="548640"/>
          </a:xfrm>
          <a:prstGeom prst="ellipse">
            <a:avLst/>
          </a:prstGeom>
          <a:solidFill>
            <a:srgbClr val="9C6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42239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Segoe UI Emoji"/>
              </a:rPr>
              <a:t>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34924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Body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5385816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C5BFDE"/>
                </a:solidFill>
                <a:latin typeface="Calibri"/>
              </a:rPr>
              <a:t>Always-on-top, draggable desktop character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 animBg="1"/>
      <p:bldP spid="8" grpId="0"/>
      <p:bldP spid="9" grpId="0"/>
      <p:bldP spid="10" grpId="0"/>
      <p:bldP spid="11" grpId="0" animBg="1"/>
      <p:bldP spid="12" grpId="0"/>
      <p:bldP spid="13" grpId="0"/>
      <p:bldP spid="14" grpId="0"/>
      <p:bldP spid="15" grpId="0" animBg="1"/>
      <p:bldP spid="16" grpId="0"/>
      <p:bldP spid="17" grpId="0"/>
      <p:bldP spid="18" grpId="0"/>
      <p:bldP spid="19" grpId="0" animBg="1"/>
      <p:bldP spid="20" grpId="0"/>
      <p:bldP spid="21" grpId="0"/>
      <p:bldP spid="22" grpId="0"/>
      <p:bldP spid="23" grpId="0" animBg="1"/>
      <p:bldP spid="24" grpId="0"/>
      <p:bldP spid="25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2608"/>
            <a:ext cx="310896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329184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8B84A6"/>
                </a:solidFill>
                <a:latin typeface="Calibri"/>
              </a:rPr>
              <a:t>MOMO · PHILIPS PROFESSIONALS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6203A"/>
                </a:solidFill>
                <a:latin typeface="Calibri"/>
              </a:rPr>
              <a:t>What she does for you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5120640" cy="1874519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>
            <a:noFill/>
          </a:ln>
          <a:effectLst>
            <a:outerShdw blurRad="190500" dist="63500" dir="5400000" rotWithShape="0">
              <a:srgbClr val="5A467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0" y="1984248"/>
            <a:ext cx="658368" cy="658368"/>
          </a:xfrm>
          <a:prstGeom prst="ellipse">
            <a:avLst/>
          </a:prstGeom>
          <a:solidFill>
            <a:srgbClr val="E86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050084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Segoe UI Emoji"/>
              </a:rPr>
              <a:t>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965960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6203A"/>
                </a:solidFill>
                <a:latin typeface="Calibri"/>
              </a:rPr>
              <a:t>Email, safely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468880"/>
            <a:ext cx="3794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5A5470"/>
                </a:solidFill>
                <a:latin typeface="Calibri"/>
              </a:rPr>
              <a:t>Drafts in your voice, asks review-or-send — never sends without your yes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5120640" cy="1874519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>
            <a:noFill/>
          </a:ln>
          <a:effectLst>
            <a:outerShdw blurRad="190500" dist="63500" dir="5400000" rotWithShape="0">
              <a:srgbClr val="5A467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37960" y="1984248"/>
            <a:ext cx="658368" cy="658368"/>
          </a:xfrm>
          <a:prstGeom prst="ellipse">
            <a:avLst/>
          </a:prstGeom>
          <a:solidFill>
            <a:srgbClr val="3B8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2050084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Segoe UI Emoji"/>
              </a:rPr>
              <a:t>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965960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6203A"/>
                </a:solidFill>
                <a:latin typeface="Calibri"/>
              </a:rPr>
              <a:t>Meetings scheduled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468880"/>
            <a:ext cx="3794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5A5470"/>
                </a:solidFill>
                <a:latin typeface="Calibri"/>
              </a:rPr>
              <a:t>Creates Teams invites and checks your calendar for conflicts first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840480"/>
            <a:ext cx="5120640" cy="1874519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>
            <a:noFill/>
          </a:ln>
          <a:effectLst>
            <a:outerShdw blurRad="190500" dist="63500" dir="5400000" rotWithShape="0">
              <a:srgbClr val="5A467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97280" y="4133088"/>
            <a:ext cx="658368" cy="658368"/>
          </a:xfrm>
          <a:prstGeom prst="ellipse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198924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Segoe UI Emoji"/>
              </a:rPr>
              <a:t>☀️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114800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6203A"/>
                </a:solidFill>
                <a:latin typeface="Calibri"/>
              </a:rPr>
              <a:t>Morning brief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617720"/>
            <a:ext cx="3794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5A5470"/>
                </a:solidFill>
                <a:latin typeface="Calibri"/>
              </a:rPr>
              <a:t>Important mail, today's meetings and relevant news — spoken to you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840480"/>
            <a:ext cx="5120640" cy="1874519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>
            <a:noFill/>
          </a:ln>
          <a:effectLst>
            <a:outerShdw blurRad="190500" dist="63500" dir="5400000" rotWithShape="0">
              <a:srgbClr val="5A467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537960" y="4133088"/>
            <a:ext cx="658368" cy="658368"/>
          </a:xfrm>
          <a:prstGeom prst="ellipse">
            <a:avLst/>
          </a:prstGeom>
          <a:solidFill>
            <a:srgbClr val="3A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4198924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Segoe UI Emoji"/>
              </a:rPr>
              <a:t>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114800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6203A"/>
                </a:solidFill>
                <a:latin typeface="Calibri"/>
              </a:rPr>
              <a:t>Finds any 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617720"/>
            <a:ext cx="3794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5A5470"/>
                </a:solidFill>
                <a:latin typeface="Calibri"/>
              </a:rPr>
              <a:t>PC, OneDrive, SharePoint — even inside Outlook attachments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A5FA8"/>
                </a:solidFill>
                <a:latin typeface="Calibri"/>
              </a:rPr>
              <a:t>One tap of the mic. She does the rest in the background.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/>
      <p:bldP spid="9" grpId="0"/>
      <p:bldP spid="10" grpId="0"/>
      <p:bldP spid="11" grpId="0" animBg="1"/>
      <p:bldP spid="12" grpId="0" animBg="1"/>
      <p:bldP spid="13" grpId="0"/>
      <p:bldP spid="14" grpId="0"/>
      <p:bldP spid="15" grpId="0"/>
      <p:bldP spid="16" grpId="0" animBg="1"/>
      <p:bldP spid="17" grpId="0" animBg="1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2608"/>
            <a:ext cx="310896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329184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8B84A6"/>
                </a:solidFill>
                <a:latin typeface="Calibri"/>
              </a:rPr>
              <a:t>MOMO · PHILIPS PROFESSIONALS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6203A"/>
                </a:solidFill>
                <a:latin typeface="Calibri"/>
              </a:rPr>
              <a:t>Meetings, handled</a:t>
            </a:r>
          </a:p>
        </p:txBody>
      </p:sp>
      <p:pic>
        <p:nvPicPr>
          <p:cNvPr id="6" name="Picture 5" descr="desk_rou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600200"/>
            <a:ext cx="3566160" cy="356616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68680" y="1828800"/>
            <a:ext cx="530352" cy="530352"/>
          </a:xfrm>
          <a:prstGeom prst="ellipse">
            <a:avLst/>
          </a:prstGeom>
          <a:solidFill>
            <a:srgbClr val="E86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5303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74519"/>
            <a:ext cx="6035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453F5C"/>
                </a:solidFill>
                <a:latin typeface="Calibri"/>
              </a:rPr>
              <a:t>Detects your Teams call starting — begins notes quietly, REC badge on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816352"/>
            <a:ext cx="530352" cy="530352"/>
          </a:xfrm>
          <a:prstGeom prst="ellipse">
            <a:avLst/>
          </a:prstGeom>
          <a:solidFill>
            <a:srgbClr val="3B8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862072"/>
            <a:ext cx="5303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862072"/>
            <a:ext cx="6035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453F5C"/>
                </a:solidFill>
                <a:latin typeface="Calibri"/>
              </a:rPr>
              <a:t>Understands the meeting in Hindi, English or Hinglish — automatically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803904"/>
            <a:ext cx="530352" cy="530352"/>
          </a:xfrm>
          <a:prstGeom prst="ellipse">
            <a:avLst/>
          </a:prstGeom>
          <a:solidFill>
            <a:srgbClr val="E86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849624"/>
            <a:ext cx="5303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849624"/>
            <a:ext cx="6035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453F5C"/>
                </a:solidFill>
                <a:latin typeface="Calibri"/>
              </a:rPr>
              <a:t>Writes executive English notes: key points + an action-items table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791456"/>
            <a:ext cx="530352" cy="530352"/>
          </a:xfrm>
          <a:prstGeom prst="ellipse">
            <a:avLst/>
          </a:prstGeom>
          <a:solidFill>
            <a:srgbClr val="3B8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837176"/>
            <a:ext cx="5303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837176"/>
            <a:ext cx="6035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453F5C"/>
                </a:solidFill>
                <a:latin typeface="Calibri"/>
              </a:rPr>
              <a:t>Your tasks land on your to-do list the moment the call ends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548640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2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Notes open in Notepad, ready to share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2608"/>
            <a:ext cx="310896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329184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8B84A6"/>
                </a:solidFill>
                <a:latin typeface="Calibri"/>
              </a:rPr>
              <a:t>MOMO · PHILIPS PROFESSIONALS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26203A"/>
                </a:solidFill>
                <a:latin typeface="Calibri"/>
              </a:rPr>
              <a:t>To-dos that stick — in your OneNote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737360"/>
            <a:ext cx="484632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90500" dist="63500" dir="5400000" rotWithShape="0">
              <a:srgbClr val="5A467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0" y="196596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6B4E9E"/>
                </a:solidFill>
                <a:latin typeface="Calibri"/>
              </a:rPr>
              <a:t>Momo To-Dos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560320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6B4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60920" y="2578608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26203A"/>
                </a:solidFill>
                <a:latin typeface="Calibri"/>
              </a:rPr>
              <a:t>Share BCP test report with Rahul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273552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6B4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60920" y="329184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26203A"/>
                </a:solidFill>
                <a:latin typeface="Calibri"/>
              </a:rPr>
              <a:t>Prepare VCP review deck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3986783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6B4E9E"/>
          </a:solidFill>
          <a:ln w="15240">
            <a:solidFill>
              <a:srgbClr val="6B4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0" y="39684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005071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strike="sngStrike">
                <a:solidFill>
                  <a:srgbClr val="8B84A6"/>
                </a:solidFill>
                <a:latin typeface="Calibri"/>
              </a:rPr>
              <a:t>Fix the PCP execution sheet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4700016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6B4E9E"/>
          </a:solidFill>
          <a:ln w="15240">
            <a:solidFill>
              <a:srgbClr val="6B4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0" y="468172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718303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strike="sngStrike">
                <a:solidFill>
                  <a:srgbClr val="8B84A6"/>
                </a:solidFill>
                <a:latin typeface="Calibri"/>
              </a:rPr>
              <a:t>Send dashboard access list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2103120"/>
            <a:ext cx="566928" cy="566928"/>
          </a:xfrm>
          <a:prstGeom prst="ellipse">
            <a:avLst/>
          </a:prstGeom>
          <a:solidFill>
            <a:srgbClr val="E86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215981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Segoe UI Emoji"/>
              </a:rPr>
              <a:t>🗣️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2148839"/>
            <a:ext cx="44805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>
                <a:solidFill>
                  <a:srgbClr val="453F5C"/>
                </a:solidFill>
                <a:latin typeface="Calibri"/>
              </a:rPr>
              <a:t>Say it once — it lands in OneNote with a checkbox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3337560"/>
            <a:ext cx="566928" cy="566928"/>
          </a:xfrm>
          <a:prstGeom prst="ellipse">
            <a:avLst/>
          </a:prstGeom>
          <a:solidFill>
            <a:srgbClr val="3B8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39425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Segoe UI Emoji"/>
              </a:rPr>
              <a:t>✔️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383279"/>
            <a:ext cx="44805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>
                <a:solidFill>
                  <a:srgbClr val="453F5C"/>
                </a:solidFill>
                <a:latin typeface="Calibri"/>
              </a:rPr>
              <a:t>Say you finished — ticked and struck through, kept as record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4572000"/>
            <a:ext cx="566928" cy="566928"/>
          </a:xfrm>
          <a:prstGeom prst="ellipse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62869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Segoe UI Emoji"/>
              </a:rPr>
              <a:t>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617720"/>
            <a:ext cx="44805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>
                <a:solidFill>
                  <a:srgbClr val="453F5C"/>
                </a:solidFill>
                <a:latin typeface="Calibri"/>
              </a:rPr>
              <a:t>Tick by hand — she notices and stops reminding you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/>
      <p:bldP spid="15" grpId="0" animBg="1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2608"/>
            <a:ext cx="310896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329184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C94C0"/>
                </a:solidFill>
                <a:latin typeface="Calibri"/>
              </a:rPr>
              <a:t>MOMO · PHILIPS PROFESSIONALS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Calibri"/>
              </a:rPr>
              <a:t>Built to be trusted</a:t>
            </a:r>
          </a:p>
        </p:txBody>
      </p:sp>
      <p:sp>
        <p:nvSpPr>
          <p:cNvPr id="6" name="Oval 5"/>
          <p:cNvSpPr/>
          <p:nvPr/>
        </p:nvSpPr>
        <p:spPr>
          <a:xfrm>
            <a:off x="9692640" y="914400"/>
            <a:ext cx="1737360" cy="1737360"/>
          </a:xfrm>
          <a:prstGeom prst="ellipse">
            <a:avLst/>
          </a:prstGeom>
          <a:solidFill>
            <a:srgbClr val="C74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0" y="1088136"/>
            <a:ext cx="17373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0">
                <a:solidFill>
                  <a:srgbClr val="FFFFFF"/>
                </a:solidFill>
                <a:latin typeface="Segoe UI Emoji"/>
              </a:rPr>
              <a:t>🛡️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9509760" cy="749808"/>
          </a:xfrm>
          <a:prstGeom prst="roundRect">
            <a:avLst>
              <a:gd name="adj" fmla="val 30000"/>
            </a:avLst>
          </a:prstGeom>
          <a:solidFill>
            <a:srgbClr val="221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51560" y="2322576"/>
            <a:ext cx="402336" cy="402336"/>
          </a:xfrm>
          <a:prstGeom prst="ellipse">
            <a:avLst/>
          </a:prstGeom>
          <a:solidFill>
            <a:srgbClr val="3A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368296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33172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E4DFF5"/>
                </a:solidFill>
                <a:latin typeface="Calibri"/>
              </a:rPr>
              <a:t>Never sends or deletes anything without your explicit yes — every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108960"/>
            <a:ext cx="9509760" cy="749808"/>
          </a:xfrm>
          <a:prstGeom prst="roundRect">
            <a:avLst>
              <a:gd name="adj" fmla="val 30000"/>
            </a:avLst>
          </a:prstGeom>
          <a:solidFill>
            <a:srgbClr val="221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51560" y="3282696"/>
            <a:ext cx="402336" cy="402336"/>
          </a:xfrm>
          <a:prstGeom prst="ellipse">
            <a:avLst/>
          </a:prstGeom>
          <a:solidFill>
            <a:srgbClr val="3A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3328416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2918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E4DFF5"/>
                </a:solidFill>
                <a:latin typeface="Calibri"/>
              </a:rPr>
              <a:t>All personal data stays local; nothing is uploaded to third parties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69080"/>
            <a:ext cx="9509760" cy="749808"/>
          </a:xfrm>
          <a:prstGeom prst="roundRect">
            <a:avLst>
              <a:gd name="adj" fmla="val 30000"/>
            </a:avLst>
          </a:prstGeom>
          <a:solidFill>
            <a:srgbClr val="221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51560" y="4242816"/>
            <a:ext cx="402336" cy="402336"/>
          </a:xfrm>
          <a:prstGeom prst="ellipse">
            <a:avLst/>
          </a:prstGeom>
          <a:solidFill>
            <a:srgbClr val="3A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4288536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2519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E4DFF5"/>
                </a:solidFill>
                <a:latin typeface="Calibri"/>
              </a:rPr>
              <a:t>Never touches passwords, credentials or payment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29200"/>
            <a:ext cx="9509760" cy="749808"/>
          </a:xfrm>
          <a:prstGeom prst="roundRect">
            <a:avLst>
              <a:gd name="adj" fmla="val 30000"/>
            </a:avLst>
          </a:prstGeom>
          <a:solidFill>
            <a:srgbClr val="221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51560" y="5202936"/>
            <a:ext cx="402336" cy="402336"/>
          </a:xfrm>
          <a:prstGeom prst="ellipse">
            <a:avLst/>
          </a:prstGeom>
          <a:solidFill>
            <a:srgbClr val="3A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5248656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21208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E4DFF5"/>
                </a:solidFill>
                <a:latin typeface="Calibri"/>
              </a:rPr>
              <a:t>Content in emails and webpages is data — never instructions to obey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/>
      <p:bldP spid="19" grpId="0"/>
      <p:bldP spid="20" grpId="0" animBg="1"/>
      <p:bldP spid="21" grpId="0" animBg="1"/>
      <p:bldP spid="22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2608"/>
            <a:ext cx="310896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329184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8B84A6"/>
                </a:solidFill>
                <a:latin typeface="Calibri"/>
              </a:rPr>
              <a:t>MOMO · PHILIPS PROFESSIONALS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74980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6203A"/>
                </a:solidFill>
                <a:latin typeface="Calibri"/>
              </a:rPr>
              <a:t>Pick your companion</a:t>
            </a:r>
          </a:p>
        </p:txBody>
      </p:sp>
      <p:pic>
        <p:nvPicPr>
          <p:cNvPr id="6" name="Picture 5" descr="mo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874519"/>
            <a:ext cx="2371806" cy="3886200"/>
          </a:xfrm>
          <a:prstGeom prst="rect">
            <a:avLst/>
          </a:prstGeom>
        </p:spPr>
      </p:pic>
      <p:pic>
        <p:nvPicPr>
          <p:cNvPr id="7" name="Picture 6" descr="to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6966" y="2011680"/>
            <a:ext cx="2567215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20840" y="5943600"/>
            <a:ext cx="237180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74670"/>
                </a:solidFill>
                <a:latin typeface="Calibri"/>
              </a:rPr>
              <a:t>MOMO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66966" y="59436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A5FA8"/>
                </a:solidFill>
                <a:latin typeface="Calibri"/>
              </a:rPr>
              <a:t>TOTO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1874519"/>
            <a:ext cx="566928" cy="566928"/>
          </a:xfrm>
          <a:prstGeom prst="ellipse">
            <a:avLst/>
          </a:prstGeom>
          <a:solidFill>
            <a:srgbClr val="E86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93121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Segoe UI Emoji"/>
              </a:rPr>
              <a:t>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20239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>
                <a:solidFill>
                  <a:srgbClr val="453F5C"/>
                </a:solidFill>
                <a:latin typeface="Calibri"/>
              </a:rPr>
              <a:t>A companion who remembers your day, your people, your projects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926079"/>
            <a:ext cx="566928" cy="566928"/>
          </a:xfrm>
          <a:prstGeom prst="ellipse">
            <a:avLst/>
          </a:prstGeom>
          <a:solidFill>
            <a:srgbClr val="3B8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98277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Segoe UI Emoji"/>
              </a:rPr>
              <a:t>🗣️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971799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>
                <a:solidFill>
                  <a:srgbClr val="453F5C"/>
                </a:solidFill>
                <a:latin typeface="Calibri"/>
              </a:rPr>
              <a:t>Speaks the way you actually talk — Hinglish included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977639"/>
            <a:ext cx="566928" cy="566928"/>
          </a:xfrm>
          <a:prstGeom prst="ellipse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03433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Segoe UI Emoji"/>
              </a:rPr>
              <a:t>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023359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>
                <a:solidFill>
                  <a:srgbClr val="453F5C"/>
                </a:solidFill>
                <a:latin typeface="Calibri"/>
              </a:rPr>
              <a:t>Runs on your existing Outlook and Teams — no new accounts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5029200"/>
            <a:ext cx="566928" cy="566928"/>
          </a:xfrm>
          <a:prstGeom prst="ellipse">
            <a:avLst/>
          </a:prstGeom>
          <a:solidFill>
            <a:srgbClr val="9C6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08589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Segoe UI Emoji"/>
              </a:rPr>
              <a:t>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074920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>
                <a:solidFill>
                  <a:srgbClr val="453F5C"/>
                </a:solidFill>
                <a:latin typeface="Calibri"/>
              </a:rPr>
              <a:t>One profile file switches character, voice and theme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  <p:bldP spid="19" grpId="0" animBg="1"/>
      <p:bldP spid="20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mo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371600"/>
            <a:ext cx="2957782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82880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Calibri"/>
              </a:rPr>
              <a:t>Bring Momo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E8628C"/>
                </a:solidFill>
                <a:latin typeface="Calibri"/>
              </a:rPr>
              <a:t>to your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69080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CFC9E8"/>
                </a:solidFill>
                <a:latin typeface="Calibri"/>
              </a:rPr>
              <a:t>One setup script. Zero IT tickets. A companion for every desk.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8920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74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💬  Let's talk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1264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A72A0"/>
                </a:solidFill>
                <a:latin typeface="Calibri"/>
              </a:rPr>
              <a:t>PHILIPS PROFESSIONALS · MOMO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1a407a2d-7675-4d17-8692-b3ac285306e4}" enabled="0" method="" siteId="{1a407a2d-7675-4d17-8692-b3ac285306e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546</Words>
  <Application>Microsoft Office PowerPoint</Application>
  <PresentationFormat>Widescreen</PresentationFormat>
  <Paragraphs>118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Mehta, Pratibha</cp:lastModifiedBy>
  <cp:revision>2</cp:revision>
  <dcterms:created xsi:type="dcterms:W3CDTF">2013-01-27T09:14:16Z</dcterms:created>
  <dcterms:modified xsi:type="dcterms:W3CDTF">2026-08-28T07:19:15Z</dcterms:modified>
  <cp:category/>
</cp:coreProperties>
</file>